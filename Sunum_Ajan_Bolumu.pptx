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8" r:id="rId4"/>
    <p:sldId id="263" r:id="rId12"/>
    <p:sldId id="264" r:id="rId13"/>
    <p:sldId id="266" r:id="rId15"/>
    <p:sldId id="265" r:id="rId14"/>
  </p:sldIdLst>
  <p:sldSz cx="257175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0"/>
    <p:restoredTop sz="94610"/>
  </p:normalViewPr>
  <p:slideViewPr>
    <p:cSldViewPr snapToGrid="0" snapToObjects="1">
      <p:cViewPr varScale="1">
        <p:scale>
          <a:sx n="59" d="100"/>
          <a:sy n="59" d="100"/>
        </p:scale>
        <p:origin x="248" y="10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4" Type="http://schemas.openxmlformats.org/officeDocument/2006/relationships/slide" Target="slides/slide3.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31808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 sn)</a:t>
            </a:r>
          </a:p>
          <a:p>
            <a:r>
              <a:t>Arkadaşlarım aracı nasıl gördüğümüzü anlattı. Şimdi asıl soruya geliyoruz: Bu araçlardan hangisi gerçekten tehdit, ve bunu neye dayanarak söylüyoruz?</a:t>
            </a:r>
          </a:p>
          <a:p>
            <a:r>
              <a:t>Bir üssü koruyan operatörü düşünün. Önünde iki saatlik bir tablo var: 40 drone görüntüsü, 226 aracın hareket kaydı ve sahadan gelen 137 rapor. İşin zor tarafı şu: raporlara güvenemiyorsunuz.</a:t>
            </a:r>
          </a:p>
          <a:p>
            <a:r>
              <a:t>Sağdaki üç rakamı veriyi incelerken biz bulduk. "Bu araç bize bağlı, planlı ikmal" diyen 18 iddianın 17'si, üsse yaklaşan bir araç için yazılmış. Yani güven veren rapor, tam da dikkat edilmesi gereken aracın üstünü örtüyor.</a:t>
            </a:r>
          </a:p>
          <a:p>
            <a:r>
              <a:t>226 aracın yalnızca 7'si iki saat boyunca her hareketinde üsse yaklaşıyor. Ve 5 araç üssün etrafında tur atıyor; bu tur fotoğraflar arasında olduğu için hiçbir fotoğrafta görünmüyor.</a:t>
            </a:r>
          </a:p>
          <a:p>
            <a:r>
              <a:t>Yani tehdit "yaklaşan araç" değil; ısrarla yaklaşan ya da üssü turlayan araç. Ve bu araçlar, güven verici raporların arasında saklanıyor.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(70 sn)</a:t>
            </a:r>
          </a:p>
          <a:p>
            <a:r>
              <a:t>Bunu çözmek için tek bir ilkeyle yola çıktık: kanıt önce, yapay zekâ sonra.</a:t>
            </a:r>
          </a:p>
          <a:p>
            <a:r>
              <a:t>Solda üç girdimiz var: YOLO tespitleri, araçların hareket kayıtları ve saha raporları.</a:t>
            </a:r>
          </a:p>
          <a:p>
            <a:r>
              <a:t>Önce kurallarla çalışan bir hat, her görüntü için bir kanıt dosyası hazırlıyor.</a:t>
            </a:r>
          </a:p>
          <a:p>
            <a:r>
              <a:t>Birinci adımda fotoğraftaki araçları hareket izleriyle eşleştiriyoruz. Böylece ağacın altında kaldığı için kameranın göremediği bir aracı bile izinden buluyoruz.</a:t>
            </a:r>
          </a:p>
          <a:p>
            <a:r>
              <a:t>İkinci adımda her raporun anlattığı aracı fotoğrafta buluyor, iddiayı o aracın rapordan önceki yarım saatiyle sınıyoruz. Kimlik iddiası hiçbir zaman riski düşürmüyor.</a:t>
            </a:r>
          </a:p>
          <a:p>
            <a:r>
              <a:t>Üçüncü adımda riski, her biri açıklanabilen faktörlerle puanlıyoruz: üssün etrafında dönme, tutarlı yaklaşma, varış süresi, araç tipi, yanıltıcı rapor.</a:t>
            </a:r>
          </a:p>
          <a:p>
            <a:r>
              <a:t>Dördüncü adımda yapay zekâ analistimiz devreye giriyor. Kanıt dosyasını okuyor, yalnızca belirsiz noktalarda araştırıyor: bir bölgeyi sorguluyor, fotoğrafı yakınlaştırıyor. Ve yazdığı her cümleyi bir kanıt kimliğine bağlıyor.</a:t>
            </a:r>
          </a:p>
          <a:p>
            <a:r>
              <a:t>Kısacası: zorunlu kanıtı yapay zekânın inisiyatifine bırakmıyoruz; yapay zekâyı gerçekten düşünmesi gereken yere koyuyoruz.</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 sn)</a:t>
            </a:r>
          </a:p>
          <a:p>
            <a:r>
              <a:t>Bir örnekle göstereyim. Saat 14:10, Doğu Yolu.</a:t>
            </a:r>
          </a:p>
          <a:p>
            <a:r>
              <a:t>Tespit modelimiz bu kamyonu yalnızca 0,10 güvenle görmüş. Sıradan bir sistem bu tespiti eleyip geçerdi.</a:t>
            </a:r>
          </a:p>
          <a:p>
            <a:r>
              <a:t>Ama hareket kaydı başka bir şey söylüyor: Bu araç iki saatte 6 kilometreden 1,6 kilometreye gelmiş ve beş hareketinin beşi de üsse doğru.</a:t>
            </a:r>
          </a:p>
          <a:p>
            <a:r>
              <a:t>Analistimiz fotoğrafı yakınlaştırıyor; görüntü de net değil. Ama sistemimiz tipe değil davranışa bakıyor: görüntü belirsiz, hareket kesin. Riski düşürmek için bir çürütme gerekir; belirsizlik yetmez.</a:t>
            </a:r>
          </a:p>
          <a:p>
            <a:r>
              <a:t>Üstelik saat 12:35'te bu kamyon için "hareketleri olağan" diyen bir rapor var. O an kamyon gerçekten duruyor; ama raporun hemen ardından üsse 4,3 kilometre yaklaşıyor. Sistemimiz bu raporu riski düşüren bir bilgi değil, şüphe sinyali olarak işaretliyor.</a:t>
            </a:r>
          </a:p>
          <a:p>
            <a:r>
              <a:t>Karar: kritik. Tahmini varış 26 dakika.</a:t>
            </a:r>
          </a:p>
          <a:p>
            <a:r>
              <a:t>Sağ alttaki satıra dikkat: bu kararın her cümlesi tespite, ize ve rapora ait kimliklerle geri izlenebiliyor.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(Video 3 dk, video oynarken konuş)</a:t>
            </a:r>
          </a:p>
          <a:p>
            <a:r>
              <a:t>0:00 Bu, operatörün ekranı. Solda günün 40 olayı saat sırasıyla ve risk rengiyle; ortada harita; sağda seçili olayın fotoğrafı ve gerekçesi.</a:t>
            </a:r>
          </a:p>
          <a:p>
            <a:r>
              <a:t>0:15 14:10 olayını açıyoruz. Üstteki bant neye bakmamız gerektiğini tek cümleyle söylüyor: T0122, üsse 1,6 kilometre. Oynatınca kamyonun son iki saatini izliyoruz: her sıçraması üsse doğru, sağ altta mesafe azalıyor. Raporlar sekmesinde 12:35'teki "hareketleri olağan" raporu şüpheli olarak işaretli.</a:t>
            </a:r>
          </a:p>
          <a:p>
            <a:r>
              <a:t>1:10 Şimdi raporları sınayalım. R017 "Güney Kapısı yaklaşımında ağır araç yok" diyor. Rapora tıklayınca bölge morla işaretleniyor ve o andaki araçlar görünüyor. Aralarında bir kamyon var: rapor çelişkili. Sonra 15:25 olayı: T0034 kamyonu 14:45 ile 15:05 arasında üssün etrafında yarım kilometrede tur atıyor. Tam o sırada, 15:00'te, R042 "bölgede olağandışı bir şey yok" diyor. Sistem: çelişkili.</a:t>
            </a:r>
          </a:p>
          <a:p>
            <a:r>
              <a:t>2:05 Tüm gün moduna geçiyoruz. Sabahtan akşama bütün araçlar ikonlarıyla hareket ediyor. Asistana soruyoruz: "Üssün etrafında dönen araçları göster." Asistan veriyi sorguluyor, beş aracı buluyor ve izlerini haritada birlikte çiziyor.</a:t>
            </a:r>
          </a:p>
          <a:p>
            <a:r>
              <a:t>2:50 Son olarak T0188: ağacın altında olduğu için kameranın göremediği araç. Kesikli kutu yerini gösteriyor; hareket kaydı sayesinde yakaladık. Teşekkürler.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 sn)</a:t>
            </a:r>
          </a:p>
          <a:p>
            <a:r>
              <a:t>Peki bu sisteme neden güvenebilirsiniz? Üç sebep.</a:t>
            </a:r>
          </a:p>
          <a:p>
            <a:r>
              <a:t>Birincisi, kanıt hiyerarşisi. Tespit izden, iz rapordan önce gelir. Her iddia kontrol edilebilir bir kimliğe bağlıdır; yapay zekâ var olmayan bir kimlik yazarsa sistem o cevabı kendisi reddeder.</a:t>
            </a:r>
          </a:p>
          <a:p>
            <a:r>
              <a:t>İkincisi, kimlik varsaymaz. "Bu araç dost" iddiasını drone verisiyle teyit etmek mümkün değil; bu yüzden hiçbir rapor riski düşüremez. Kanıt yoksa "doğrulanamaz" deriz; tahmin yürütmeyiz.</a:t>
            </a:r>
          </a:p>
          <a:p>
            <a:r>
              <a:t>Üçüncüsü, ölçülür. Ekibimizin elle etiketlediği 23 raporda kural katmanımız 22'sinde aynı hükme varıyor; yapay zekâ analistinin hükümleri de 13'ten 21'e çıktı. Dışarıdan bir gözden geçirmede bulunan beş açığı kapattık; üssün etrafında dönen araçları da böyle yakaladık.</a:t>
            </a:r>
          </a:p>
          <a:p>
            <a:r>
              <a:t>Şimdi bunları operatörün ekranında görelim.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62626"/>
        </a:solidFill>
        <a:effectLst/>
      </p:bgPr>
    </p:bg>
    <p:spTree>
      <p:nvGrpSpPr>
        <p:cNvPr id="1" name=""/>
        <p:cNvGrpSpPr/>
        <p:nvPr/>
      </p:nvGrpSpPr>
      <p:grpSpPr>
        <a:xfrm>
          <a:off x="0" y="0"/>
          <a:ext cx="0" cy="0"/>
          <a:chOff x="0" y="0"/>
          <a:chExt cx="0" cy="0"/>
        </a:xfrm>
      </p:grpSpPr>
      <p:sp>
        <p:nvSpPr>
          <p:cNvPr id="2" name="Shape 0"/>
          <p:cNvSpPr/>
          <p:nvPr/>
        </p:nvSpPr>
        <p:spPr>
          <a:xfrm>
            <a:off x="535781" y="381000"/>
            <a:ext cx="24645938" cy="8477250"/>
          </a:xfrm>
          <a:prstGeom prst="rect">
            <a:avLst/>
          </a:prstGeom>
          <a:gradFill rotWithShape="1">
            <a:gsLst>
              <a:gs pos="0">
                <a:srgbClr val="00D1D4">
                  <a:alpha val="100000"/>
                </a:srgbClr>
              </a:gs>
              <a:gs pos="100000">
                <a:srgbClr val="2078B4">
                  <a:alpha val="100000"/>
                </a:srgbClr>
              </a:gs>
            </a:gsLst>
            <a:lin ang="2700000" scaled="0"/>
          </a:gradFill>
          <a:ln/>
        </p:spPr>
        <p:txBody>
          <a:bodyPr/>
          <a:lstStyle/>
          <a:p>
            <a:endParaRPr lang="tr-TR"/>
          </a:p>
        </p:txBody>
      </p:sp>
      <p:sp>
        <p:nvSpPr>
          <p:cNvPr id="3" name="Shape 1"/>
          <p:cNvSpPr/>
          <p:nvPr/>
        </p:nvSpPr>
        <p:spPr>
          <a:xfrm>
            <a:off x="562570" y="400050"/>
            <a:ext cx="24592359" cy="8439150"/>
          </a:xfrm>
          <a:prstGeom prst="rect">
            <a:avLst/>
          </a:prstGeom>
          <a:solidFill>
            <a:srgbClr val="262626"/>
          </a:solidFill>
          <a:ln/>
        </p:spPr>
        <p:txBody>
          <a:bodyPr/>
          <a:lstStyle/>
          <a:p>
            <a:endParaRPr lang="tr-TR"/>
          </a:p>
        </p:txBody>
      </p:sp>
      <p:sp>
        <p:nvSpPr>
          <p:cNvPr id="4" name="Shape 2"/>
          <p:cNvSpPr/>
          <p:nvPr/>
        </p:nvSpPr>
        <p:spPr>
          <a:xfrm>
            <a:off x="535781" y="9048750"/>
            <a:ext cx="24645938" cy="857250"/>
          </a:xfrm>
          <a:prstGeom prst="rect">
            <a:avLst/>
          </a:prstGeom>
          <a:ln w="19050">
            <a:solidFill>
              <a:srgbClr val="00D1D4">
                <a:alpha val="50000"/>
              </a:srgbClr>
            </a:solidFill>
            <a:prstDash val="solid"/>
          </a:ln>
        </p:spPr>
        <p:txBody>
          <a:bodyPr/>
          <a:lstStyle/>
          <a:p>
            <a:endParaRPr lang="tr-TR"/>
          </a:p>
        </p:txBody>
      </p:sp>
      <p:sp>
        <p:nvSpPr>
          <p:cNvPr id="6" name="Text 3"/>
          <p:cNvSpPr/>
          <p:nvPr/>
        </p:nvSpPr>
        <p:spPr>
          <a:xfrm>
            <a:off x="21865421" y="9313069"/>
            <a:ext cx="3117504" cy="366713"/>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B9B9C4"/>
                </a:solidFill>
                <a:latin typeface="Arial" pitchFamily="34" charset="0"/>
                <a:ea typeface="Arial" pitchFamily="34" charset="-122"/>
                <a:cs typeface="Arial" pitchFamily="34" charset="-120"/>
              </a:rPr>
              <a:t>[TAKIM ADI] · 04</a:t>
            </a:r>
            <a:endParaRPr lang="en-US" sz="1800" dirty="0"/>
          </a:p>
        </p:txBody>
      </p:sp>
      <p:sp>
        <p:nvSpPr>
          <p:cNvPr id="7" name="Text 4"/>
          <p:cNvSpPr/>
          <p:nvPr/>
        </p:nvSpPr>
        <p:spPr>
          <a:xfrm>
            <a:off x="1500188" y="1143000"/>
            <a:ext cx="14675048" cy="400050"/>
          </a:xfrm>
          <a:prstGeom prst="rect">
            <a:avLst/>
          </a:prstGeom>
          <a:noFill/>
          <a:ln/>
        </p:spPr>
        <p:txBody>
          <a:bodyPr wrap="square" lIns="25400" tIns="25400" rIns="25400" bIns="25400" rtlCol="0" anchor="t">
            <a:normAutofit/>
          </a:bodyPr>
          <a:lstStyle/>
          <a:p>
            <a:pPr marL="0" indent="0" algn="l">
              <a:buNone/>
            </a:pPr>
            <a:r>
              <a:rPr lang="en-US" sz="1950" kern="0" spc="390" dirty="0">
                <a:solidFill>
                  <a:srgbClr val="00D1D4"/>
                </a:solidFill>
                <a:latin typeface="Arial" pitchFamily="34" charset="0"/>
                <a:ea typeface="Arial" pitchFamily="34" charset="-122"/>
                <a:cs typeface="Arial" pitchFamily="34" charset="-120"/>
              </a:rPr>
              <a:t>PROBLEM</a:t>
            </a:r>
            <a:endParaRPr lang="en-US" sz="1950" dirty="0"/>
          </a:p>
        </p:txBody>
      </p:sp>
      <p:sp>
        <p:nvSpPr>
          <p:cNvPr id="8" name="Text 5"/>
          <p:cNvSpPr/>
          <p:nvPr/>
        </p:nvSpPr>
        <p:spPr>
          <a:xfrm>
            <a:off x="1500188" y="1733550"/>
            <a:ext cx="13741182" cy="1676400"/>
          </a:xfrm>
          <a:prstGeom prst="rect">
            <a:avLst/>
          </a:prstGeom>
          <a:noFill/>
          <a:ln/>
        </p:spPr>
        <p:txBody>
          <a:bodyPr wrap="square" lIns="25400" tIns="25400" rIns="25400" bIns="25400" rtlCol="0" anchor="t">
            <a:normAutofit/>
          </a:bodyPr>
          <a:lstStyle/>
          <a:p>
            <a:pPr marL="0" indent="0" algn="l">
              <a:lnSpc>
                <a:spcPct val="101176"/>
              </a:lnSpc>
              <a:buNone/>
            </a:pPr>
            <a:r>
              <a:rPr lang="en-US" sz="5550" b="1" kern="0" spc="-166" dirty="0" err="1">
                <a:solidFill>
                  <a:srgbClr val="C9A6F0"/>
                </a:solidFill>
                <a:latin typeface="Arial" pitchFamily="34" charset="0"/>
                <a:ea typeface="Arial" pitchFamily="34" charset="-122"/>
                <a:cs typeface="Arial" pitchFamily="34" charset="-120"/>
              </a:rPr>
              <a:t>Hangi araç gerçekten tehdit, ve neden?</a:t>
            </a:r>
            <a:endParaRPr lang="en-US" sz="5550" dirty="0"/>
          </a:p>
        </p:txBody>
      </p:sp>
      <p:sp>
        <p:nvSpPr>
          <p:cNvPr id="9" name="Shape 6"/>
          <p:cNvSpPr/>
          <p:nvPr/>
        </p:nvSpPr>
        <p:spPr>
          <a:xfrm>
            <a:off x="1500188" y="3752850"/>
            <a:ext cx="13340953" cy="19050"/>
          </a:xfrm>
          <a:prstGeom prst="rect">
            <a:avLst/>
          </a:prstGeom>
          <a:gradFill rotWithShape="1">
            <a:gsLst>
              <a:gs pos="0">
                <a:srgbClr val="00D1D4">
                  <a:alpha val="100000"/>
                </a:srgbClr>
              </a:gs>
              <a:gs pos="100000">
                <a:srgbClr val="00D1D4">
                  <a:alpha val="0"/>
                </a:srgbClr>
              </a:gs>
            </a:gsLst>
            <a:lin ang="0" scaled="0"/>
          </a:gradFill>
          <a:ln/>
        </p:spPr>
        <p:txBody>
          <a:bodyPr/>
          <a:lstStyle/>
          <a:p>
            <a:endParaRPr lang="tr-TR"/>
          </a:p>
        </p:txBody>
      </p:sp>
      <p:sp>
        <p:nvSpPr>
          <p:cNvPr id="10" name="Shape 7"/>
          <p:cNvSpPr/>
          <p:nvPr/>
        </p:nvSpPr>
        <p:spPr>
          <a:xfrm>
            <a:off x="1535013" y="4229100"/>
            <a:ext cx="171450" cy="228600"/>
          </a:xfrm>
          <a:prstGeom prst="rect">
            <a:avLst/>
          </a:prstGeom>
          <a:solidFill>
            <a:srgbClr val="009AFE"/>
          </a:solidFill>
          <a:ln/>
        </p:spPr>
        <p:txBody>
          <a:bodyPr/>
          <a:lstStyle/>
          <a:p>
            <a:endParaRPr lang="tr-TR"/>
          </a:p>
        </p:txBody>
      </p:sp>
      <p:sp>
        <p:nvSpPr>
          <p:cNvPr id="11" name="Text 8"/>
          <p:cNvSpPr/>
          <p:nvPr/>
        </p:nvSpPr>
        <p:spPr>
          <a:xfrm>
            <a:off x="2009180" y="4176712"/>
            <a:ext cx="5447776" cy="419100"/>
          </a:xfrm>
          <a:prstGeom prst="rect">
            <a:avLst/>
          </a:prstGeom>
          <a:noFill/>
          <a:ln/>
        </p:spPr>
        <p:txBody>
          <a:bodyPr wrap="square" lIns="25400" tIns="25400" rIns="25400" bIns="25400" rtlCol="0" anchor="t">
            <a:normAutofit/>
          </a:bodyPr>
          <a:lstStyle/>
          <a:p>
            <a:pPr marL="0" indent="0" algn="l">
              <a:lnSpc>
                <a:spcPct val="123077"/>
              </a:lnSpc>
              <a:buNone/>
            </a:pPr>
            <a:r>
              <a:rPr lang="en-US" sz="2100" dirty="0" err="1">
                <a:solidFill>
                  <a:srgbClr val="D6D6DE"/>
                </a:solidFill>
                <a:latin typeface="Arial" pitchFamily="34" charset="0"/>
                <a:cs typeface="Arial" pitchFamily="34" charset="-120"/>
              </a:rPr>
              <a:t>40 görüntü · 226 araç izi · 137 rapor</a:t>
            </a:r>
            <a:endParaRPr lang="en-US" sz="2100" dirty="0"/>
          </a:p>
        </p:txBody>
      </p:sp>
      <p:sp>
        <p:nvSpPr>
          <p:cNvPr id="12" name="Shape 9"/>
          <p:cNvSpPr/>
          <p:nvPr/>
        </p:nvSpPr>
        <p:spPr>
          <a:xfrm>
            <a:off x="1535013" y="4900613"/>
            <a:ext cx="171450" cy="228600"/>
          </a:xfrm>
          <a:prstGeom prst="rect">
            <a:avLst/>
          </a:prstGeom>
          <a:solidFill>
            <a:srgbClr val="009AFE"/>
          </a:solidFill>
          <a:ln/>
        </p:spPr>
        <p:txBody>
          <a:bodyPr/>
          <a:lstStyle/>
          <a:p>
            <a:endParaRPr lang="tr-TR"/>
          </a:p>
        </p:txBody>
      </p:sp>
      <p:sp>
        <p:nvSpPr>
          <p:cNvPr id="13" name="Text 10"/>
          <p:cNvSpPr/>
          <p:nvPr/>
        </p:nvSpPr>
        <p:spPr>
          <a:xfrm>
            <a:off x="2009180" y="4848225"/>
            <a:ext cx="4122293" cy="419100"/>
          </a:xfrm>
          <a:prstGeom prst="rect">
            <a:avLst/>
          </a:prstGeom>
          <a:noFill/>
          <a:ln/>
        </p:spPr>
        <p:txBody>
          <a:bodyPr wrap="square" lIns="25400" tIns="25400" rIns="25400" bIns="25400" rtlCol="0" anchor="t">
            <a:normAutofit/>
          </a:bodyPr>
          <a:lstStyle/>
          <a:p>
            <a:pPr>
              <a:lnSpc>
                <a:spcPct val="123077"/>
              </a:lnSpc>
            </a:pPr>
            <a:r>
              <a:rPr lang="en-US" sz="2100" dirty="0" err="1">
                <a:solidFill>
                  <a:srgbClr val="D6D6DE"/>
                </a:solidFill>
                <a:latin typeface="Arial" pitchFamily="34" charset="0"/>
                <a:cs typeface="Arial" pitchFamily="34" charset="-120"/>
              </a:rPr>
              <a:t>Güven veren rapor tehdidi örtüyor</a:t>
            </a:r>
            <a:endParaRPr lang="en-US" sz="2100" dirty="0"/>
          </a:p>
        </p:txBody>
      </p:sp>
      <p:sp>
        <p:nvSpPr>
          <p:cNvPr id="14" name="Shape 11"/>
          <p:cNvSpPr/>
          <p:nvPr/>
        </p:nvSpPr>
        <p:spPr>
          <a:xfrm>
            <a:off x="1535013" y="5572125"/>
            <a:ext cx="171450" cy="228600"/>
          </a:xfrm>
          <a:prstGeom prst="rect">
            <a:avLst/>
          </a:prstGeom>
          <a:solidFill>
            <a:srgbClr val="009AFE"/>
          </a:solidFill>
          <a:ln/>
        </p:spPr>
        <p:txBody>
          <a:bodyPr/>
          <a:lstStyle/>
          <a:p>
            <a:endParaRPr lang="tr-TR"/>
          </a:p>
        </p:txBody>
      </p:sp>
      <p:sp>
        <p:nvSpPr>
          <p:cNvPr id="15" name="Text 12"/>
          <p:cNvSpPr/>
          <p:nvPr/>
        </p:nvSpPr>
        <p:spPr>
          <a:xfrm>
            <a:off x="2009180" y="5519738"/>
            <a:ext cx="4465894" cy="419100"/>
          </a:xfrm>
          <a:prstGeom prst="rect">
            <a:avLst/>
          </a:prstGeom>
          <a:noFill/>
          <a:ln/>
        </p:spPr>
        <p:txBody>
          <a:bodyPr wrap="square" lIns="25400" tIns="25400" rIns="25400" bIns="25400" rtlCol="0" anchor="t">
            <a:normAutofit/>
          </a:bodyPr>
          <a:lstStyle/>
          <a:p>
            <a:pPr>
              <a:lnSpc>
                <a:spcPct val="123077"/>
              </a:lnSpc>
            </a:pPr>
            <a:r>
              <a:rPr lang="en-US" sz="2100" dirty="0" err="1">
                <a:solidFill>
                  <a:srgbClr val="D6D6DE"/>
                </a:solidFill>
                <a:latin typeface="Arial" pitchFamily="34" charset="0"/>
                <a:cs typeface="Arial" pitchFamily="34" charset="-120"/>
              </a:rPr>
              <a:t>Tehdit: ısrarlı yaklaşma, üssü turlama</a:t>
            </a:r>
            <a:endParaRPr lang="en-US" sz="2100" dirty="0"/>
          </a:p>
        </p:txBody>
      </p:sp>
      <p:sp>
        <p:nvSpPr>
          <p:cNvPr id="17" name="Text 14"/>
          <p:cNvSpPr/>
          <p:nvPr/>
        </p:nvSpPr>
        <p:spPr>
          <a:xfrm>
            <a:off x="15912703" y="1143000"/>
            <a:ext cx="9135070" cy="366713"/>
          </a:xfrm>
          <a:prstGeom prst="rect">
            <a:avLst/>
          </a:prstGeom>
          <a:noFill/>
          <a:ln/>
        </p:spPr>
        <p:txBody>
          <a:bodyPr wrap="square" lIns="25400" tIns="25400" rIns="25400" bIns="25400" rtlCol="0" anchor="t">
            <a:normAutofit/>
          </a:bodyPr>
          <a:lstStyle/>
          <a:p>
            <a:pPr marL="0" indent="0" algn="l">
              <a:buNone/>
            </a:pPr>
            <a:r>
              <a:rPr lang="en-US" sz="1800" kern="0" spc="360" dirty="0">
                <a:solidFill>
                  <a:srgbClr val="8C8C98"/>
                </a:solidFill>
                <a:latin typeface="Arial" pitchFamily="34" charset="0"/>
                <a:ea typeface="Arial" pitchFamily="34" charset="-122"/>
                <a:cs typeface="Arial" pitchFamily="34" charset="-120"/>
              </a:rPr>
              <a:t>KANITLAR</a:t>
            </a:r>
            <a:endParaRPr lang="en-US" sz="1800" dirty="0"/>
          </a:p>
        </p:txBody>
      </p:sp>
      <p:sp>
        <p:nvSpPr>
          <p:cNvPr id="18" name="Shape 15"/>
          <p:cNvSpPr/>
          <p:nvPr/>
        </p:nvSpPr>
        <p:spPr>
          <a:xfrm>
            <a:off x="15912703" y="1662113"/>
            <a:ext cx="8304609" cy="2125638"/>
          </a:xfrm>
          <a:prstGeom prst="rect">
            <a:avLst/>
          </a:prstGeom>
          <a:solidFill>
            <a:srgbClr val="00D1D4">
              <a:alpha val="7000"/>
            </a:srgbClr>
          </a:solidFill>
          <a:ln w="9525">
            <a:solidFill>
              <a:srgbClr val="00D1D4">
                <a:alpha val="32000"/>
              </a:srgbClr>
            </a:solidFill>
            <a:prstDash val="solid"/>
          </a:ln>
        </p:spPr>
        <p:txBody>
          <a:bodyPr/>
          <a:lstStyle/>
          <a:p>
            <a:endParaRPr lang="tr-TR"/>
          </a:p>
        </p:txBody>
      </p:sp>
      <p:sp>
        <p:nvSpPr>
          <p:cNvPr id="19" name="Text 16"/>
          <p:cNvSpPr/>
          <p:nvPr/>
        </p:nvSpPr>
        <p:spPr>
          <a:xfrm>
            <a:off x="16381512" y="2201019"/>
            <a:ext cx="8103691" cy="666750"/>
          </a:xfrm>
          <a:prstGeom prst="rect">
            <a:avLst/>
          </a:prstGeom>
          <a:noFill/>
          <a:ln/>
        </p:spPr>
        <p:txBody>
          <a:bodyPr wrap="square" lIns="25400" tIns="25400" rIns="25400" bIns="25400" rtlCol="0" anchor="t">
            <a:normAutofit lnSpcReduction="10000"/>
          </a:bodyPr>
          <a:lstStyle/>
          <a:p>
            <a:pPr marL="0" indent="0" algn="l">
              <a:lnSpc>
                <a:spcPct val="98507"/>
              </a:lnSpc>
              <a:buNone/>
            </a:pPr>
            <a:r>
              <a:rPr lang="en-US" sz="4350" b="1" kern="0" spc="-87" dirty="0">
                <a:solidFill>
                  <a:srgbClr val="00D1D4"/>
                </a:solidFill>
                <a:latin typeface="Arial" pitchFamily="34" charset="0"/>
                <a:ea typeface="Arial" pitchFamily="34" charset="-122"/>
                <a:cs typeface="Arial" pitchFamily="34" charset="-120"/>
              </a:rPr>
              <a:t>17 / 18</a:t>
            </a:r>
            <a:endParaRPr lang="en-US" sz="4350" dirty="0"/>
          </a:p>
        </p:txBody>
      </p:sp>
      <p:sp>
        <p:nvSpPr>
          <p:cNvPr id="20" name="Text 17"/>
          <p:cNvSpPr/>
          <p:nvPr/>
        </p:nvSpPr>
        <p:spPr>
          <a:xfrm>
            <a:off x="16381512" y="2905869"/>
            <a:ext cx="8103691" cy="381000"/>
          </a:xfrm>
          <a:prstGeom prst="rect">
            <a:avLst/>
          </a:prstGeom>
          <a:noFill/>
          <a:ln/>
        </p:spPr>
        <p:txBody>
          <a:bodyPr wrap="square" lIns="25400" tIns="25400" rIns="25400" bIns="25400" rtlCol="0" anchor="t">
            <a:normAutofit/>
          </a:bodyPr>
          <a:lstStyle/>
          <a:p>
            <a:pPr marL="0" indent="0" algn="l">
              <a:lnSpc>
                <a:spcPct val="124138"/>
              </a:lnSpc>
              <a:buNone/>
            </a:pPr>
            <a:r>
              <a:rPr lang="en-US" sz="1875" dirty="0">
                <a:solidFill>
                  <a:srgbClr val="C6C6D0"/>
                </a:solidFill>
                <a:latin typeface="Arial" pitchFamily="34" charset="0"/>
                <a:ea typeface="Arial" pitchFamily="34" charset="-122"/>
                <a:cs typeface="Arial" pitchFamily="34" charset="-120"/>
              </a:rPr>
              <a:t>'Dost / ikmal' iddiası üsse yaklaşan bir araç için</a:t>
            </a:r>
            <a:endParaRPr lang="en-US" sz="1875" dirty="0"/>
          </a:p>
        </p:txBody>
      </p:sp>
      <p:sp>
        <p:nvSpPr>
          <p:cNvPr id="21" name="Shape 18"/>
          <p:cNvSpPr/>
          <p:nvPr/>
        </p:nvSpPr>
        <p:spPr>
          <a:xfrm>
            <a:off x="15912703" y="3978250"/>
            <a:ext cx="8304609" cy="2125712"/>
          </a:xfrm>
          <a:prstGeom prst="rect">
            <a:avLst/>
          </a:prstGeom>
          <a:solidFill>
            <a:srgbClr val="009AFE">
              <a:alpha val="7000"/>
            </a:srgbClr>
          </a:solidFill>
          <a:ln w="9525">
            <a:solidFill>
              <a:srgbClr val="009AFE">
                <a:alpha val="32000"/>
              </a:srgbClr>
            </a:solidFill>
            <a:prstDash val="solid"/>
          </a:ln>
        </p:spPr>
        <p:txBody>
          <a:bodyPr/>
          <a:lstStyle/>
          <a:p>
            <a:endParaRPr lang="tr-TR"/>
          </a:p>
        </p:txBody>
      </p:sp>
      <p:sp>
        <p:nvSpPr>
          <p:cNvPr id="22" name="Text 19"/>
          <p:cNvSpPr/>
          <p:nvPr/>
        </p:nvSpPr>
        <p:spPr>
          <a:xfrm>
            <a:off x="16381512" y="4517231"/>
            <a:ext cx="8103691" cy="666750"/>
          </a:xfrm>
          <a:prstGeom prst="rect">
            <a:avLst/>
          </a:prstGeom>
          <a:noFill/>
          <a:ln/>
        </p:spPr>
        <p:txBody>
          <a:bodyPr wrap="square" lIns="25400" tIns="25400" rIns="25400" bIns="25400" rtlCol="0" anchor="t">
            <a:normAutofit lnSpcReduction="10000"/>
          </a:bodyPr>
          <a:lstStyle/>
          <a:p>
            <a:pPr marL="0" indent="0" algn="l">
              <a:lnSpc>
                <a:spcPct val="98507"/>
              </a:lnSpc>
              <a:buNone/>
            </a:pPr>
            <a:r>
              <a:rPr lang="en-US" sz="4350" b="1" kern="0" spc="-87" dirty="0">
                <a:solidFill>
                  <a:srgbClr val="009AFE"/>
                </a:solidFill>
                <a:latin typeface="Arial" pitchFamily="34" charset="0"/>
                <a:ea typeface="Arial" pitchFamily="34" charset="-122"/>
                <a:cs typeface="Arial" pitchFamily="34" charset="-120"/>
              </a:rPr>
              <a:t>7 / 226</a:t>
            </a:r>
            <a:endParaRPr lang="en-US" sz="4350" dirty="0"/>
          </a:p>
        </p:txBody>
      </p:sp>
      <p:sp>
        <p:nvSpPr>
          <p:cNvPr id="23" name="Text 20"/>
          <p:cNvSpPr/>
          <p:nvPr/>
        </p:nvSpPr>
        <p:spPr>
          <a:xfrm>
            <a:off x="16381512" y="5222081"/>
            <a:ext cx="8103691" cy="381000"/>
          </a:xfrm>
          <a:prstGeom prst="rect">
            <a:avLst/>
          </a:prstGeom>
          <a:noFill/>
          <a:ln/>
        </p:spPr>
        <p:txBody>
          <a:bodyPr wrap="square" lIns="25400" tIns="25400" rIns="25400" bIns="25400" rtlCol="0" anchor="t">
            <a:normAutofit/>
          </a:bodyPr>
          <a:lstStyle/>
          <a:p>
            <a:pPr marL="0" indent="0" algn="l">
              <a:lnSpc>
                <a:spcPct val="124138"/>
              </a:lnSpc>
              <a:buNone/>
            </a:pPr>
            <a:r>
              <a:rPr lang="en-US" sz="1875" dirty="0">
                <a:solidFill>
                  <a:srgbClr val="C6C6D0"/>
                </a:solidFill>
                <a:latin typeface="Arial" pitchFamily="34" charset="0"/>
                <a:ea typeface="Arial" pitchFamily="34" charset="-122"/>
                <a:cs typeface="Arial" pitchFamily="34" charset="-120"/>
              </a:rPr>
              <a:t>Her hareketinde üsse yaklaşan araç</a:t>
            </a:r>
            <a:endParaRPr lang="en-US" sz="1875" dirty="0"/>
          </a:p>
        </p:txBody>
      </p:sp>
      <p:sp>
        <p:nvSpPr>
          <p:cNvPr id="24" name="Shape 21"/>
          <p:cNvSpPr/>
          <p:nvPr/>
        </p:nvSpPr>
        <p:spPr>
          <a:xfrm>
            <a:off x="15912703" y="6294462"/>
            <a:ext cx="8304609" cy="2125638"/>
          </a:xfrm>
          <a:prstGeom prst="rect">
            <a:avLst/>
          </a:prstGeom>
          <a:solidFill>
            <a:srgbClr val="C9A6F0">
              <a:alpha val="7000"/>
            </a:srgbClr>
          </a:solidFill>
          <a:ln w="9525">
            <a:solidFill>
              <a:srgbClr val="C9A6F0">
                <a:alpha val="32000"/>
              </a:srgbClr>
            </a:solidFill>
            <a:prstDash val="solid"/>
          </a:ln>
        </p:spPr>
        <p:txBody>
          <a:bodyPr/>
          <a:lstStyle/>
          <a:p>
            <a:endParaRPr lang="tr-TR"/>
          </a:p>
        </p:txBody>
      </p:sp>
      <p:sp>
        <p:nvSpPr>
          <p:cNvPr id="25" name="Text 22"/>
          <p:cNvSpPr/>
          <p:nvPr/>
        </p:nvSpPr>
        <p:spPr>
          <a:xfrm>
            <a:off x="16381512" y="6833369"/>
            <a:ext cx="8103691" cy="666750"/>
          </a:xfrm>
          <a:prstGeom prst="rect">
            <a:avLst/>
          </a:prstGeom>
          <a:noFill/>
          <a:ln/>
        </p:spPr>
        <p:txBody>
          <a:bodyPr wrap="square" lIns="25400" tIns="25400" rIns="25400" bIns="25400" rtlCol="0" anchor="t">
            <a:normAutofit lnSpcReduction="10000"/>
          </a:bodyPr>
          <a:lstStyle/>
          <a:p>
            <a:pPr marL="0" indent="0" algn="l">
              <a:lnSpc>
                <a:spcPct val="98507"/>
              </a:lnSpc>
              <a:buNone/>
            </a:pPr>
            <a:r>
              <a:rPr lang="en-US" sz="4350" b="1" kern="0" spc="-87" dirty="0">
                <a:solidFill>
                  <a:srgbClr val="C9A6F0"/>
                </a:solidFill>
                <a:latin typeface="Arial" pitchFamily="34" charset="0"/>
                <a:ea typeface="Arial" pitchFamily="34" charset="-122"/>
                <a:cs typeface="Arial" pitchFamily="34" charset="-120"/>
              </a:rPr>
              <a:t>5 / 226</a:t>
            </a:r>
            <a:endParaRPr lang="en-US" sz="4350" dirty="0"/>
          </a:p>
        </p:txBody>
      </p:sp>
      <p:sp>
        <p:nvSpPr>
          <p:cNvPr id="26" name="Text 23"/>
          <p:cNvSpPr/>
          <p:nvPr/>
        </p:nvSpPr>
        <p:spPr>
          <a:xfrm>
            <a:off x="16381512" y="7538219"/>
            <a:ext cx="8103691" cy="381000"/>
          </a:xfrm>
          <a:prstGeom prst="rect">
            <a:avLst/>
          </a:prstGeom>
          <a:noFill/>
          <a:ln/>
        </p:spPr>
        <p:txBody>
          <a:bodyPr wrap="square" lIns="25400" tIns="25400" rIns="25400" bIns="25400" rtlCol="0" anchor="t">
            <a:normAutofit/>
          </a:bodyPr>
          <a:lstStyle/>
          <a:p>
            <a:pPr marL="0" indent="0" algn="l">
              <a:lnSpc>
                <a:spcPct val="124138"/>
              </a:lnSpc>
              <a:buNone/>
            </a:pPr>
            <a:r>
              <a:rPr lang="en-US" sz="1875" dirty="0">
                <a:solidFill>
                  <a:srgbClr val="C6C6D0"/>
                </a:solidFill>
                <a:latin typeface="Arial" pitchFamily="34" charset="0"/>
                <a:ea typeface="Arial" pitchFamily="34" charset="-122"/>
                <a:cs typeface="Arial" pitchFamily="34" charset="-120"/>
              </a:rPr>
              <a:t>Üssün etrafında tur atan araç: fotoğrafta görünmez</a:t>
            </a:r>
            <a:endParaRPr lang="en-US" sz="1875" dirty="0"/>
          </a:p>
        </p:txBody>
      </p:sp>
      <p:pic>
        <p:nvPicPr>
          <p:cNvPr id="16" name="Resim 15">
            <a:extLst>
              <a:ext uri="{FF2B5EF4-FFF2-40B4-BE49-F238E27FC236}">
                <a16:creationId xmlns:a16="http://schemas.microsoft.com/office/drawing/2014/main" id="{E938A267-5337-AAC5-5027-D2EFF6895AF0}"/>
              </a:ext>
            </a:extLst>
          </p:cNvPr>
          <p:cNvPicPr>
            <a:picLocks noChangeAspect="1"/>
          </p:cNvPicPr>
          <p:nvPr/>
        </p:nvPicPr>
        <p:blipFill>
          <a:blip r:embed="rId3"/>
          <a:stretch>
            <a:fillRect/>
          </a:stretch>
        </p:blipFill>
        <p:spPr>
          <a:xfrm>
            <a:off x="1038077" y="9334500"/>
            <a:ext cx="2049362" cy="323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1F1F1F"/>
        </a:solidFill>
        <a:effectLst/>
      </p:bgPr>
    </p:bg>
    <p:spTree>
      <p:nvGrpSpPr>
        <p:cNvPr id="1" name=""/>
        <p:cNvGrpSpPr/>
        <p:nvPr/>
      </p:nvGrpSpPr>
      <p:grpSpPr>
        <a:xfrm>
          <a:off x="0" y="0"/>
          <a:ext cx="0" cy="0"/>
          <a:chOff x="0" y="0"/>
          <a:chExt cx="0" cy="0"/>
        </a:xfrm>
      </p:grpSpPr>
      <p:sp>
        <p:nvSpPr>
          <p:cNvPr id="2" name="Shape 0"/>
          <p:cNvSpPr/>
          <p:nvPr/>
        </p:nvSpPr>
        <p:spPr>
          <a:xfrm>
            <a:off x="535781" y="381000"/>
            <a:ext cx="24645938" cy="8477250"/>
          </a:xfrm>
          <a:prstGeom prst="rect">
            <a:avLst/>
          </a:prstGeom>
          <a:gradFill rotWithShape="1">
            <a:gsLst>
              <a:gs pos="0">
                <a:srgbClr val="00D1D4">
                  <a:alpha val="100000"/>
                </a:srgbClr>
              </a:gs>
              <a:gs pos="100000">
                <a:srgbClr val="2078B4">
                  <a:alpha val="100000"/>
                </a:srgbClr>
              </a:gs>
            </a:gsLst>
            <a:lin ang="2700000" scaled="0"/>
          </a:gradFill>
          <a:ln/>
        </p:spPr>
        <p:txBody>
          <a:bodyPr/>
          <a:lstStyle/>
          <a:p>
            <a:endParaRPr lang="tr-TR"/>
          </a:p>
        </p:txBody>
      </p:sp>
      <p:sp>
        <p:nvSpPr>
          <p:cNvPr id="3" name="Shape 1"/>
          <p:cNvSpPr/>
          <p:nvPr/>
        </p:nvSpPr>
        <p:spPr>
          <a:xfrm>
            <a:off x="562570" y="400050"/>
            <a:ext cx="24592359" cy="8439150"/>
          </a:xfrm>
          <a:prstGeom prst="rect">
            <a:avLst/>
          </a:prstGeom>
          <a:solidFill>
            <a:srgbClr val="1F1F1F"/>
          </a:solidFill>
          <a:ln/>
        </p:spPr>
        <p:txBody>
          <a:bodyPr/>
          <a:lstStyle/>
          <a:p>
            <a:endParaRPr lang="tr-TR"/>
          </a:p>
        </p:txBody>
      </p:sp>
      <p:sp>
        <p:nvSpPr>
          <p:cNvPr id="4" name="Shape 2"/>
          <p:cNvSpPr/>
          <p:nvPr/>
        </p:nvSpPr>
        <p:spPr>
          <a:xfrm>
            <a:off x="535781" y="9048750"/>
            <a:ext cx="24645938" cy="857250"/>
          </a:xfrm>
          <a:prstGeom prst="rect">
            <a:avLst/>
          </a:prstGeom>
          <a:ln w="19050">
            <a:solidFill>
              <a:srgbClr val="00D1D4">
                <a:alpha val="50000"/>
              </a:srgbClr>
            </a:solidFill>
            <a:prstDash val="solid"/>
          </a:ln>
        </p:spPr>
        <p:txBody>
          <a:bodyPr/>
          <a:lstStyle/>
          <a:p>
            <a:endParaRPr lang="tr-TR"/>
          </a:p>
        </p:txBody>
      </p:sp>
      <p:sp>
        <p:nvSpPr>
          <p:cNvPr id="6" name="Text 3"/>
          <p:cNvSpPr/>
          <p:nvPr/>
        </p:nvSpPr>
        <p:spPr>
          <a:xfrm>
            <a:off x="21865421" y="9313069"/>
            <a:ext cx="3117504" cy="366713"/>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B9B9C4"/>
                </a:solidFill>
                <a:latin typeface="Arial" pitchFamily="34" charset="0"/>
                <a:ea typeface="Arial" pitchFamily="34" charset="-122"/>
                <a:cs typeface="Arial" pitchFamily="34" charset="-120"/>
              </a:rPr>
              <a:t>[TAKIM ADI] · 05</a:t>
            </a:r>
            <a:endParaRPr lang="en-US" sz="1800" dirty="0"/>
          </a:p>
        </p:txBody>
      </p:sp>
      <p:sp>
        <p:nvSpPr>
          <p:cNvPr id="7" name="Text 4"/>
          <p:cNvSpPr/>
          <p:nvPr/>
        </p:nvSpPr>
        <p:spPr>
          <a:xfrm>
            <a:off x="1500188" y="1414463"/>
            <a:ext cx="3516818" cy="400050"/>
          </a:xfrm>
          <a:prstGeom prst="rect">
            <a:avLst/>
          </a:prstGeom>
          <a:noFill/>
          <a:ln/>
        </p:spPr>
        <p:txBody>
          <a:bodyPr wrap="square" lIns="25400" tIns="25400" rIns="25400" bIns="25400" rtlCol="0" anchor="t">
            <a:normAutofit/>
          </a:bodyPr>
          <a:lstStyle/>
          <a:p>
            <a:pPr marL="0" indent="0" algn="l">
              <a:buNone/>
            </a:pPr>
            <a:r>
              <a:rPr lang="en-US" sz="1950" kern="0" spc="390" dirty="0">
                <a:solidFill>
                  <a:srgbClr val="C9A6F0"/>
                </a:solidFill>
                <a:latin typeface="Arial" pitchFamily="34" charset="0"/>
                <a:ea typeface="Arial" pitchFamily="34" charset="-122"/>
                <a:cs typeface="Arial" pitchFamily="34" charset="-120"/>
              </a:rPr>
              <a:t>2. GÜN · AJAN</a:t>
            </a:r>
            <a:endParaRPr lang="en-US" sz="1950" dirty="0"/>
          </a:p>
        </p:txBody>
      </p:sp>
      <p:sp>
        <p:nvSpPr>
          <p:cNvPr id="8" name="Text 5"/>
          <p:cNvSpPr/>
          <p:nvPr/>
        </p:nvSpPr>
        <p:spPr>
          <a:xfrm>
            <a:off x="5072341" y="1143000"/>
            <a:ext cx="12304028" cy="704850"/>
          </a:xfrm>
          <a:prstGeom prst="rect">
            <a:avLst/>
          </a:prstGeom>
          <a:noFill/>
          <a:ln/>
        </p:spPr>
        <p:txBody>
          <a:bodyPr wrap="square" lIns="25400" tIns="25400" rIns="25400" bIns="25400" rtlCol="0" anchor="t">
            <a:normAutofit lnSpcReduction="10000"/>
          </a:bodyPr>
          <a:lstStyle/>
          <a:p>
            <a:pPr marL="0" indent="0" algn="l">
              <a:lnSpc>
                <a:spcPct val="98592"/>
              </a:lnSpc>
              <a:buNone/>
            </a:pPr>
            <a:r>
              <a:rPr lang="en-US" sz="4650" b="1" kern="0" spc="-139" dirty="0">
                <a:solidFill>
                  <a:srgbClr val="C9A6F0"/>
                </a:solidFill>
                <a:latin typeface="Arial" pitchFamily="34" charset="0"/>
                <a:ea typeface="Arial" pitchFamily="34" charset="-122"/>
                <a:cs typeface="Arial" pitchFamily="34" charset="-120"/>
              </a:rPr>
              <a:t>Kanıt önce, yapay zekâ sonra</a:t>
            </a:r>
            <a:endParaRPr lang="en-US" sz="4650" dirty="0"/>
          </a:p>
        </p:txBody>
      </p:sp>
      <p:sp>
        <p:nvSpPr>
          <p:cNvPr id="10" name="Text 7"/>
          <p:cNvSpPr/>
          <p:nvPr/>
        </p:nvSpPr>
        <p:spPr>
          <a:xfrm>
            <a:off x="1500188" y="2171700"/>
            <a:ext cx="11902182" cy="366713"/>
          </a:xfrm>
          <a:prstGeom prst="rect">
            <a:avLst/>
          </a:prstGeom>
          <a:noFill/>
          <a:ln/>
        </p:spPr>
        <p:txBody>
          <a:bodyPr wrap="square" lIns="25400" tIns="25400" rIns="25400" bIns="25400" rtlCol="0" anchor="t">
            <a:normAutofit/>
          </a:bodyPr>
          <a:lstStyle/>
          <a:p>
            <a:pPr marL="0" indent="0" algn="l">
              <a:buNone/>
            </a:pPr>
            <a:r>
              <a:rPr lang="en-US" sz="1800" kern="0" spc="360" dirty="0">
                <a:solidFill>
                  <a:srgbClr val="8C8C98"/>
                </a:solidFill>
                <a:latin typeface="Arial" pitchFamily="34" charset="0"/>
                <a:ea typeface="Arial" pitchFamily="34" charset="-122"/>
                <a:cs typeface="Arial" pitchFamily="34" charset="-120"/>
              </a:rPr>
              <a:t>GİRDİLER</a:t>
            </a:r>
            <a:endParaRPr lang="en-US" sz="1800" dirty="0"/>
          </a:p>
        </p:txBody>
      </p:sp>
      <p:sp>
        <p:nvSpPr>
          <p:cNvPr id="11" name="Shape 8"/>
          <p:cNvSpPr/>
          <p:nvPr/>
        </p:nvSpPr>
        <p:spPr>
          <a:xfrm>
            <a:off x="1500188" y="2633663"/>
            <a:ext cx="10820166" cy="1839888"/>
          </a:xfrm>
          <a:prstGeom prst="rect">
            <a:avLst/>
          </a:prstGeom>
          <a:solidFill>
            <a:srgbClr val="00D1D4">
              <a:alpha val="6000"/>
            </a:srgbClr>
          </a:solidFill>
          <a:ln w="9525">
            <a:solidFill>
              <a:srgbClr val="00D1D4">
                <a:alpha val="32000"/>
              </a:srgbClr>
            </a:solidFill>
            <a:prstDash val="solid"/>
          </a:ln>
        </p:spPr>
        <p:txBody>
          <a:bodyPr/>
          <a:lstStyle/>
          <a:p>
            <a:endParaRPr lang="tr-TR"/>
          </a:p>
        </p:txBody>
      </p:sp>
      <p:sp>
        <p:nvSpPr>
          <p:cNvPr id="12" name="Text 9"/>
          <p:cNvSpPr/>
          <p:nvPr/>
        </p:nvSpPr>
        <p:spPr>
          <a:xfrm>
            <a:off x="1888629" y="3179713"/>
            <a:ext cx="11047611" cy="366713"/>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00D1D4"/>
                </a:solidFill>
                <a:latin typeface="Arial" pitchFamily="34" charset="0"/>
                <a:ea typeface="Arial" pitchFamily="34" charset="-122"/>
                <a:cs typeface="Arial" pitchFamily="34" charset="-120"/>
              </a:rPr>
              <a:t>YOLO TESPİTLERİ</a:t>
            </a:r>
            <a:endParaRPr lang="en-US" sz="1800" dirty="0"/>
          </a:p>
        </p:txBody>
      </p:sp>
      <p:sp>
        <p:nvSpPr>
          <p:cNvPr id="13" name="Text 10"/>
          <p:cNvSpPr/>
          <p:nvPr/>
        </p:nvSpPr>
        <p:spPr>
          <a:xfrm>
            <a:off x="1888629" y="3565475"/>
            <a:ext cx="11047611" cy="400050"/>
          </a:xfrm>
          <a:prstGeom prst="rect">
            <a:avLst/>
          </a:prstGeom>
          <a:noFill/>
          <a:ln/>
        </p:spPr>
        <p:txBody>
          <a:bodyPr wrap="square" lIns="25400" tIns="25400" rIns="25400" bIns="25400" rtlCol="0" anchor="t">
            <a:normAutofit lnSpcReduction="10000"/>
          </a:bodyPr>
          <a:lstStyle/>
          <a:p>
            <a:pPr marL="0" indent="0" algn="l">
              <a:lnSpc>
                <a:spcPct val="122581"/>
              </a:lnSpc>
              <a:buNone/>
            </a:pPr>
            <a:r>
              <a:rPr lang="en-US" sz="2025" dirty="0">
                <a:solidFill>
                  <a:srgbClr val="E2E2E9"/>
                </a:solidFill>
                <a:latin typeface="Arial" pitchFamily="34" charset="0"/>
                <a:ea typeface="Arial" pitchFamily="34" charset="-122"/>
                <a:cs typeface="Arial" pitchFamily="34" charset="-120"/>
              </a:rPr>
              <a:t>323 araç: tip, güven, koordinat</a:t>
            </a:r>
            <a:endParaRPr lang="en-US" sz="2025" dirty="0"/>
          </a:p>
        </p:txBody>
      </p:sp>
      <p:sp>
        <p:nvSpPr>
          <p:cNvPr id="14" name="Shape 11"/>
          <p:cNvSpPr/>
          <p:nvPr/>
        </p:nvSpPr>
        <p:spPr>
          <a:xfrm>
            <a:off x="1500188" y="4606900"/>
            <a:ext cx="10820166" cy="1839962"/>
          </a:xfrm>
          <a:prstGeom prst="rect">
            <a:avLst/>
          </a:prstGeom>
          <a:solidFill>
            <a:srgbClr val="009AFE">
              <a:alpha val="6000"/>
            </a:srgbClr>
          </a:solidFill>
          <a:ln w="9525">
            <a:solidFill>
              <a:srgbClr val="009AFE">
                <a:alpha val="32000"/>
              </a:srgbClr>
            </a:solidFill>
            <a:prstDash val="solid"/>
          </a:ln>
        </p:spPr>
        <p:txBody>
          <a:bodyPr/>
          <a:lstStyle/>
          <a:p>
            <a:endParaRPr lang="tr-TR"/>
          </a:p>
        </p:txBody>
      </p:sp>
      <p:sp>
        <p:nvSpPr>
          <p:cNvPr id="15" name="Text 12"/>
          <p:cNvSpPr/>
          <p:nvPr/>
        </p:nvSpPr>
        <p:spPr>
          <a:xfrm>
            <a:off x="1888629" y="5153025"/>
            <a:ext cx="11047611" cy="366713"/>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009AFE"/>
                </a:solidFill>
                <a:latin typeface="Arial" pitchFamily="34" charset="0"/>
                <a:ea typeface="Arial" pitchFamily="34" charset="-122"/>
                <a:cs typeface="Arial" pitchFamily="34" charset="-120"/>
              </a:rPr>
              <a:t>HAREKET KAYITLARI</a:t>
            </a:r>
            <a:endParaRPr lang="en-US" sz="1800" dirty="0"/>
          </a:p>
        </p:txBody>
      </p:sp>
      <p:sp>
        <p:nvSpPr>
          <p:cNvPr id="16" name="Text 13"/>
          <p:cNvSpPr/>
          <p:nvPr/>
        </p:nvSpPr>
        <p:spPr>
          <a:xfrm>
            <a:off x="1888629" y="5538788"/>
            <a:ext cx="11047611" cy="400050"/>
          </a:xfrm>
          <a:prstGeom prst="rect">
            <a:avLst/>
          </a:prstGeom>
          <a:noFill/>
          <a:ln/>
        </p:spPr>
        <p:txBody>
          <a:bodyPr wrap="square" lIns="25400" tIns="25400" rIns="25400" bIns="25400" rtlCol="0" anchor="t">
            <a:normAutofit lnSpcReduction="10000"/>
          </a:bodyPr>
          <a:lstStyle/>
          <a:p>
            <a:pPr marL="0" indent="0" algn="l">
              <a:lnSpc>
                <a:spcPct val="122581"/>
              </a:lnSpc>
              <a:buNone/>
            </a:pPr>
            <a:r>
              <a:rPr lang="en-US" sz="2025" dirty="0">
                <a:solidFill>
                  <a:srgbClr val="E2E2E9"/>
                </a:solidFill>
                <a:latin typeface="Arial" pitchFamily="34" charset="0"/>
                <a:ea typeface="Arial" pitchFamily="34" charset="-122"/>
                <a:cs typeface="Arial" pitchFamily="34" charset="-120"/>
              </a:rPr>
              <a:t>226 araç × 2 saat, 5 dk adım</a:t>
            </a:r>
            <a:endParaRPr lang="en-US" sz="2025" dirty="0"/>
          </a:p>
        </p:txBody>
      </p:sp>
      <p:sp>
        <p:nvSpPr>
          <p:cNvPr id="17" name="Shape 14"/>
          <p:cNvSpPr/>
          <p:nvPr/>
        </p:nvSpPr>
        <p:spPr>
          <a:xfrm>
            <a:off x="1500188" y="6580212"/>
            <a:ext cx="10820166" cy="1839888"/>
          </a:xfrm>
          <a:prstGeom prst="rect">
            <a:avLst/>
          </a:prstGeom>
          <a:solidFill>
            <a:srgbClr val="C9A6F0">
              <a:alpha val="7000"/>
            </a:srgbClr>
          </a:solidFill>
          <a:ln w="9525">
            <a:solidFill>
              <a:srgbClr val="C9A6F0">
                <a:alpha val="34000"/>
              </a:srgbClr>
            </a:solidFill>
            <a:prstDash val="solid"/>
          </a:ln>
        </p:spPr>
        <p:txBody>
          <a:bodyPr/>
          <a:lstStyle/>
          <a:p>
            <a:endParaRPr lang="tr-TR"/>
          </a:p>
        </p:txBody>
      </p:sp>
      <p:sp>
        <p:nvSpPr>
          <p:cNvPr id="18" name="Text 15"/>
          <p:cNvSpPr/>
          <p:nvPr/>
        </p:nvSpPr>
        <p:spPr>
          <a:xfrm>
            <a:off x="1888629" y="7126263"/>
            <a:ext cx="11047611" cy="366713"/>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C9A6F0"/>
                </a:solidFill>
                <a:latin typeface="Arial" pitchFamily="34" charset="0"/>
                <a:ea typeface="Arial" pitchFamily="34" charset="-122"/>
                <a:cs typeface="Arial" pitchFamily="34" charset="-120"/>
              </a:rPr>
              <a:t>SAHA RAPORLARI</a:t>
            </a:r>
            <a:endParaRPr lang="en-US" sz="1800" dirty="0"/>
          </a:p>
        </p:txBody>
      </p:sp>
      <p:sp>
        <p:nvSpPr>
          <p:cNvPr id="19" name="Text 16"/>
          <p:cNvSpPr/>
          <p:nvPr/>
        </p:nvSpPr>
        <p:spPr>
          <a:xfrm>
            <a:off x="1888629" y="7512025"/>
            <a:ext cx="11047611" cy="400050"/>
          </a:xfrm>
          <a:prstGeom prst="rect">
            <a:avLst/>
          </a:prstGeom>
          <a:noFill/>
          <a:ln/>
        </p:spPr>
        <p:txBody>
          <a:bodyPr wrap="square" lIns="25400" tIns="25400" rIns="25400" bIns="25400" rtlCol="0" anchor="t">
            <a:normAutofit lnSpcReduction="10000"/>
          </a:bodyPr>
          <a:lstStyle/>
          <a:p>
            <a:pPr marL="0" indent="0" algn="l">
              <a:lnSpc>
                <a:spcPct val="122581"/>
              </a:lnSpc>
              <a:buNone/>
            </a:pPr>
            <a:r>
              <a:rPr lang="en-US" sz="2025" dirty="0">
                <a:solidFill>
                  <a:srgbClr val="E2E2E9"/>
                </a:solidFill>
                <a:latin typeface="Arial" pitchFamily="34" charset="0"/>
                <a:ea typeface="Arial" pitchFamily="34" charset="-122"/>
                <a:cs typeface="Arial" pitchFamily="34" charset="-120"/>
              </a:rPr>
              <a:t>137 serbest metin; konum koordinat ya da bölge</a:t>
            </a:r>
            <a:endParaRPr lang="en-US" sz="2025" dirty="0"/>
          </a:p>
        </p:txBody>
      </p:sp>
      <p:sp>
        <p:nvSpPr>
          <p:cNvPr id="20" name="Text 17"/>
          <p:cNvSpPr/>
          <p:nvPr/>
        </p:nvSpPr>
        <p:spPr>
          <a:xfrm>
            <a:off x="12856134" y="2171700"/>
            <a:ext cx="12497182" cy="366713"/>
          </a:xfrm>
          <a:prstGeom prst="rect">
            <a:avLst/>
          </a:prstGeom>
          <a:noFill/>
          <a:ln/>
        </p:spPr>
        <p:txBody>
          <a:bodyPr wrap="square" lIns="25400" tIns="25400" rIns="25400" bIns="25400" rtlCol="0" anchor="t">
            <a:normAutofit/>
          </a:bodyPr>
          <a:lstStyle/>
          <a:p>
            <a:pPr marL="0" indent="0" algn="l">
              <a:buNone/>
            </a:pPr>
            <a:r>
              <a:rPr lang="en-US" sz="1800" kern="0" spc="360" dirty="0">
                <a:solidFill>
                  <a:srgbClr val="8C8C98"/>
                </a:solidFill>
                <a:latin typeface="Arial" pitchFamily="34" charset="0"/>
                <a:ea typeface="Arial" pitchFamily="34" charset="-122"/>
                <a:cs typeface="Arial" pitchFamily="34" charset="-120"/>
              </a:rPr>
              <a:t>AJAN AKIŞI</a:t>
            </a:r>
            <a:endParaRPr lang="en-US" sz="1800" dirty="0"/>
          </a:p>
        </p:txBody>
      </p:sp>
      <p:sp>
        <p:nvSpPr>
          <p:cNvPr id="21" name="Shape 18"/>
          <p:cNvSpPr/>
          <p:nvPr/>
        </p:nvSpPr>
        <p:spPr>
          <a:xfrm>
            <a:off x="12856134" y="2633663"/>
            <a:ext cx="11361074" cy="1360884"/>
          </a:xfrm>
          <a:prstGeom prst="rect">
            <a:avLst/>
          </a:prstGeom>
          <a:ln w="9525">
            <a:solidFill>
              <a:srgbClr val="FFFFFF">
                <a:alpha val="14000"/>
              </a:srgbClr>
            </a:solidFill>
            <a:prstDash val="solid"/>
          </a:ln>
        </p:spPr>
        <p:txBody>
          <a:bodyPr/>
          <a:lstStyle/>
          <a:p>
            <a:endParaRPr lang="tr-TR"/>
          </a:p>
        </p:txBody>
      </p:sp>
      <p:sp>
        <p:nvSpPr>
          <p:cNvPr id="22" name="Shape 19"/>
          <p:cNvSpPr/>
          <p:nvPr/>
        </p:nvSpPr>
        <p:spPr>
          <a:xfrm>
            <a:off x="13356792" y="3037880"/>
            <a:ext cx="552450" cy="552450"/>
          </a:xfrm>
          <a:prstGeom prst="rect">
            <a:avLst/>
          </a:prstGeom>
          <a:ln w="9525">
            <a:solidFill>
              <a:srgbClr val="00D1D4">
                <a:alpha val="45000"/>
              </a:srgbClr>
            </a:solidFill>
            <a:prstDash val="solid"/>
          </a:ln>
        </p:spPr>
        <p:txBody>
          <a:bodyPr/>
          <a:lstStyle/>
          <a:p>
            <a:endParaRPr lang="tr-TR"/>
          </a:p>
        </p:txBody>
      </p:sp>
      <p:sp>
        <p:nvSpPr>
          <p:cNvPr id="23" name="Text 20"/>
          <p:cNvSpPr/>
          <p:nvPr/>
        </p:nvSpPr>
        <p:spPr>
          <a:xfrm>
            <a:off x="13204392" y="3047405"/>
            <a:ext cx="857250" cy="571500"/>
          </a:xfrm>
          <a:prstGeom prst="rect">
            <a:avLst/>
          </a:prstGeom>
          <a:noFill/>
          <a:ln/>
        </p:spPr>
        <p:txBody>
          <a:bodyPr wrap="square" lIns="25400" tIns="25400" rIns="25400" bIns="25400" rtlCol="0" anchor="ctr">
            <a:normAutofit/>
          </a:bodyPr>
          <a:lstStyle/>
          <a:p>
            <a:pPr marL="0" indent="0" algn="ctr">
              <a:buNone/>
            </a:pPr>
            <a:r>
              <a:rPr lang="en-US" sz="1950" dirty="0">
                <a:solidFill>
                  <a:srgbClr val="00D1D4"/>
                </a:solidFill>
                <a:latin typeface="Arial" pitchFamily="34" charset="0"/>
                <a:ea typeface="Arial" pitchFamily="34" charset="-122"/>
                <a:cs typeface="Arial" pitchFamily="34" charset="-120"/>
              </a:rPr>
              <a:t>01</a:t>
            </a:r>
            <a:endParaRPr lang="en-US" sz="1950" dirty="0"/>
          </a:p>
        </p:txBody>
      </p:sp>
      <p:sp>
        <p:nvSpPr>
          <p:cNvPr id="24" name="Text 21"/>
          <p:cNvSpPr/>
          <p:nvPr/>
        </p:nvSpPr>
        <p:spPr>
          <a:xfrm>
            <a:off x="14289349" y="2961680"/>
            <a:ext cx="10493360" cy="400050"/>
          </a:xfrm>
          <a:prstGeom prst="rect">
            <a:avLst/>
          </a:prstGeom>
          <a:noFill/>
          <a:ln/>
        </p:spPr>
        <p:txBody>
          <a:bodyPr wrap="square" lIns="25400" tIns="25400" rIns="25400" bIns="25400" rtlCol="0" anchor="t">
            <a:normAutofit/>
          </a:bodyPr>
          <a:lstStyle/>
          <a:p>
            <a:pPr marL="0" indent="0" algn="l">
              <a:lnSpc>
                <a:spcPct val="116923"/>
              </a:lnSpc>
              <a:buNone/>
            </a:pPr>
            <a:r>
              <a:rPr lang="en-US" sz="2100" b="1" dirty="0" err="1">
                <a:solidFill>
                  <a:srgbClr val="FFFFFF"/>
                </a:solidFill>
                <a:latin typeface="Arial" pitchFamily="34" charset="0"/>
                <a:ea typeface="Arial" pitchFamily="34" charset="-122"/>
                <a:cs typeface="Arial" pitchFamily="34" charset="-120"/>
              </a:rPr>
              <a:t>Füzyon</a:t>
            </a:r>
            <a:endParaRPr lang="en-US" sz="2100" dirty="0"/>
          </a:p>
        </p:txBody>
      </p:sp>
      <p:sp>
        <p:nvSpPr>
          <p:cNvPr id="25" name="Text 22"/>
          <p:cNvSpPr/>
          <p:nvPr/>
        </p:nvSpPr>
        <p:spPr>
          <a:xfrm>
            <a:off x="14289349" y="3342680"/>
            <a:ext cx="10493360" cy="361950"/>
          </a:xfrm>
          <a:prstGeom prst="rect">
            <a:avLst/>
          </a:prstGeom>
          <a:noFill/>
          <a:ln/>
        </p:spPr>
        <p:txBody>
          <a:bodyPr wrap="square" lIns="25400" tIns="25400" rIns="25400" bIns="25400" rtlCol="0" anchor="t">
            <a:normAutofit lnSpcReduction="10000"/>
          </a:bodyPr>
          <a:lstStyle/>
          <a:p>
            <a:pPr marL="0" indent="0" algn="l">
              <a:lnSpc>
                <a:spcPct val="117241"/>
              </a:lnSpc>
              <a:buNone/>
            </a:pPr>
            <a:r>
              <a:rPr lang="en-US" sz="1875" dirty="0" err="1">
                <a:solidFill>
                  <a:srgbClr val="C6C6D0"/>
                </a:solidFill>
                <a:latin typeface="Arial" pitchFamily="34" charset="0"/>
                <a:ea typeface="Arial" pitchFamily="34" charset="-122"/>
                <a:cs typeface="Arial" pitchFamily="34" charset="-120"/>
              </a:rPr>
              <a:t>Tespit ↔ iz eşleşir; kameranın kaçırdığı araç izden bulunur</a:t>
            </a:r>
            <a:endParaRPr lang="en-US" sz="1875" dirty="0"/>
          </a:p>
        </p:txBody>
      </p:sp>
      <p:sp>
        <p:nvSpPr>
          <p:cNvPr id="26" name="Shape 23"/>
          <p:cNvSpPr/>
          <p:nvPr/>
        </p:nvSpPr>
        <p:spPr>
          <a:xfrm>
            <a:off x="12856134" y="4108847"/>
            <a:ext cx="11361074" cy="1360884"/>
          </a:xfrm>
          <a:prstGeom prst="rect">
            <a:avLst/>
          </a:prstGeom>
          <a:ln w="9525">
            <a:solidFill>
              <a:srgbClr val="FFFFFF">
                <a:alpha val="14000"/>
              </a:srgbClr>
            </a:solidFill>
            <a:prstDash val="solid"/>
          </a:ln>
        </p:spPr>
        <p:txBody>
          <a:bodyPr/>
          <a:lstStyle/>
          <a:p>
            <a:endParaRPr lang="tr-TR"/>
          </a:p>
        </p:txBody>
      </p:sp>
      <p:sp>
        <p:nvSpPr>
          <p:cNvPr id="27" name="Shape 24"/>
          <p:cNvSpPr/>
          <p:nvPr/>
        </p:nvSpPr>
        <p:spPr>
          <a:xfrm>
            <a:off x="13356792" y="4513064"/>
            <a:ext cx="552450" cy="552450"/>
          </a:xfrm>
          <a:prstGeom prst="rect">
            <a:avLst/>
          </a:prstGeom>
          <a:ln w="9525">
            <a:solidFill>
              <a:srgbClr val="009AFE">
                <a:alpha val="45000"/>
              </a:srgbClr>
            </a:solidFill>
            <a:prstDash val="solid"/>
          </a:ln>
        </p:spPr>
        <p:txBody>
          <a:bodyPr/>
          <a:lstStyle/>
          <a:p>
            <a:endParaRPr lang="tr-TR"/>
          </a:p>
        </p:txBody>
      </p:sp>
      <p:sp>
        <p:nvSpPr>
          <p:cNvPr id="28" name="Text 25"/>
          <p:cNvSpPr/>
          <p:nvPr/>
        </p:nvSpPr>
        <p:spPr>
          <a:xfrm>
            <a:off x="13204392" y="4522589"/>
            <a:ext cx="857250" cy="571500"/>
          </a:xfrm>
          <a:prstGeom prst="rect">
            <a:avLst/>
          </a:prstGeom>
          <a:noFill/>
          <a:ln/>
        </p:spPr>
        <p:txBody>
          <a:bodyPr wrap="square" lIns="25400" tIns="25400" rIns="25400" bIns="25400" rtlCol="0" anchor="ctr">
            <a:normAutofit/>
          </a:bodyPr>
          <a:lstStyle/>
          <a:p>
            <a:pPr marL="0" indent="0" algn="ctr">
              <a:buNone/>
            </a:pPr>
            <a:r>
              <a:rPr lang="en-US" sz="1950" dirty="0">
                <a:solidFill>
                  <a:srgbClr val="009AFE"/>
                </a:solidFill>
                <a:latin typeface="Arial" pitchFamily="34" charset="0"/>
                <a:ea typeface="Arial" pitchFamily="34" charset="-122"/>
                <a:cs typeface="Arial" pitchFamily="34" charset="-120"/>
              </a:rPr>
              <a:t>02</a:t>
            </a:r>
            <a:endParaRPr lang="en-US" sz="1950" dirty="0"/>
          </a:p>
        </p:txBody>
      </p:sp>
      <p:sp>
        <p:nvSpPr>
          <p:cNvPr id="29" name="Text 26"/>
          <p:cNvSpPr/>
          <p:nvPr/>
        </p:nvSpPr>
        <p:spPr>
          <a:xfrm>
            <a:off x="14289349" y="4436864"/>
            <a:ext cx="10493360" cy="400050"/>
          </a:xfrm>
          <a:prstGeom prst="rect">
            <a:avLst/>
          </a:prstGeom>
          <a:noFill/>
          <a:ln/>
        </p:spPr>
        <p:txBody>
          <a:bodyPr wrap="square" lIns="25400" tIns="25400" rIns="25400" bIns="25400" rtlCol="0" anchor="t">
            <a:normAutofit/>
          </a:bodyPr>
          <a:lstStyle/>
          <a:p>
            <a:pPr marL="0" indent="0" algn="l">
              <a:lnSpc>
                <a:spcPct val="116923"/>
              </a:lnSpc>
              <a:buNone/>
            </a:pPr>
            <a:r>
              <a:rPr lang="en-US" sz="2100" b="1" dirty="0" err="1">
                <a:solidFill>
                  <a:srgbClr val="FFFFFF"/>
                </a:solidFill>
                <a:latin typeface="Arial" pitchFamily="34" charset="0"/>
                <a:ea typeface="Arial" pitchFamily="34" charset="-122"/>
                <a:cs typeface="Arial" pitchFamily="34" charset="-120"/>
              </a:rPr>
              <a:t>Rapor doğrulama</a:t>
            </a:r>
            <a:endParaRPr lang="en-US" sz="2100" dirty="0"/>
          </a:p>
        </p:txBody>
      </p:sp>
      <p:sp>
        <p:nvSpPr>
          <p:cNvPr id="30" name="Text 27"/>
          <p:cNvSpPr/>
          <p:nvPr/>
        </p:nvSpPr>
        <p:spPr>
          <a:xfrm>
            <a:off x="14289349" y="4817864"/>
            <a:ext cx="10493360" cy="361950"/>
          </a:xfrm>
          <a:prstGeom prst="rect">
            <a:avLst/>
          </a:prstGeom>
          <a:noFill/>
          <a:ln/>
        </p:spPr>
        <p:txBody>
          <a:bodyPr wrap="square" lIns="25400" tIns="25400" rIns="25400" bIns="25400" rtlCol="0" anchor="t">
            <a:normAutofit lnSpcReduction="10000"/>
          </a:bodyPr>
          <a:lstStyle/>
          <a:p>
            <a:pPr marL="0" indent="0" algn="l">
              <a:lnSpc>
                <a:spcPct val="117241"/>
              </a:lnSpc>
              <a:buNone/>
            </a:pPr>
            <a:r>
              <a:rPr lang="en-US" sz="1875" dirty="0" err="1">
                <a:solidFill>
                  <a:srgbClr val="C6C6D0"/>
                </a:solidFill>
                <a:latin typeface="Arial" pitchFamily="34" charset="0"/>
                <a:ea typeface="Arial" pitchFamily="34" charset="-122"/>
                <a:cs typeface="Arial" pitchFamily="34" charset="-120"/>
              </a:rPr>
              <a:t>Fotoğraftaki araç + rapordan önceki 30 dk: doğrulandı / kısmen / çelişkili / doğrulanamaz</a:t>
            </a:r>
            <a:endParaRPr lang="en-US" sz="1875" dirty="0"/>
          </a:p>
        </p:txBody>
      </p:sp>
      <p:sp>
        <p:nvSpPr>
          <p:cNvPr id="31" name="Shape 28"/>
          <p:cNvSpPr/>
          <p:nvPr/>
        </p:nvSpPr>
        <p:spPr>
          <a:xfrm>
            <a:off x="12856134" y="5584031"/>
            <a:ext cx="11361074" cy="1360884"/>
          </a:xfrm>
          <a:prstGeom prst="rect">
            <a:avLst/>
          </a:prstGeom>
          <a:ln w="9525">
            <a:solidFill>
              <a:srgbClr val="FFFFFF">
                <a:alpha val="14000"/>
              </a:srgbClr>
            </a:solidFill>
            <a:prstDash val="solid"/>
          </a:ln>
        </p:spPr>
        <p:txBody>
          <a:bodyPr/>
          <a:lstStyle/>
          <a:p>
            <a:endParaRPr lang="tr-TR"/>
          </a:p>
        </p:txBody>
      </p:sp>
      <p:sp>
        <p:nvSpPr>
          <p:cNvPr id="32" name="Shape 29"/>
          <p:cNvSpPr/>
          <p:nvPr/>
        </p:nvSpPr>
        <p:spPr>
          <a:xfrm>
            <a:off x="13356792" y="5988248"/>
            <a:ext cx="552450" cy="552450"/>
          </a:xfrm>
          <a:prstGeom prst="rect">
            <a:avLst/>
          </a:prstGeom>
          <a:ln w="9525">
            <a:solidFill>
              <a:srgbClr val="C9A6F0">
                <a:alpha val="50000"/>
              </a:srgbClr>
            </a:solidFill>
            <a:prstDash val="solid"/>
          </a:ln>
        </p:spPr>
        <p:txBody>
          <a:bodyPr/>
          <a:lstStyle/>
          <a:p>
            <a:endParaRPr lang="tr-TR"/>
          </a:p>
        </p:txBody>
      </p:sp>
      <p:sp>
        <p:nvSpPr>
          <p:cNvPr id="33" name="Text 30"/>
          <p:cNvSpPr/>
          <p:nvPr/>
        </p:nvSpPr>
        <p:spPr>
          <a:xfrm>
            <a:off x="13204392" y="5997773"/>
            <a:ext cx="857250" cy="571500"/>
          </a:xfrm>
          <a:prstGeom prst="rect">
            <a:avLst/>
          </a:prstGeom>
          <a:noFill/>
          <a:ln/>
        </p:spPr>
        <p:txBody>
          <a:bodyPr wrap="square" lIns="25400" tIns="25400" rIns="25400" bIns="25400" rtlCol="0" anchor="ctr">
            <a:normAutofit/>
          </a:bodyPr>
          <a:lstStyle/>
          <a:p>
            <a:pPr marL="0" indent="0" algn="ctr">
              <a:buNone/>
            </a:pPr>
            <a:r>
              <a:rPr lang="en-US" sz="1950" dirty="0">
                <a:solidFill>
                  <a:srgbClr val="C9A6F0"/>
                </a:solidFill>
                <a:latin typeface="Arial" pitchFamily="34" charset="0"/>
                <a:ea typeface="Arial" pitchFamily="34" charset="-122"/>
                <a:cs typeface="Arial" pitchFamily="34" charset="-120"/>
              </a:rPr>
              <a:t>03</a:t>
            </a:r>
            <a:endParaRPr lang="en-US" sz="1950" dirty="0"/>
          </a:p>
        </p:txBody>
      </p:sp>
      <p:sp>
        <p:nvSpPr>
          <p:cNvPr id="34" name="Text 31"/>
          <p:cNvSpPr/>
          <p:nvPr/>
        </p:nvSpPr>
        <p:spPr>
          <a:xfrm>
            <a:off x="14289349" y="5912048"/>
            <a:ext cx="10493360" cy="400050"/>
          </a:xfrm>
          <a:prstGeom prst="rect">
            <a:avLst/>
          </a:prstGeom>
          <a:noFill/>
          <a:ln/>
        </p:spPr>
        <p:txBody>
          <a:bodyPr wrap="square" lIns="25400" tIns="25400" rIns="25400" bIns="25400" rtlCol="0" anchor="t">
            <a:normAutofit/>
          </a:bodyPr>
          <a:lstStyle/>
          <a:p>
            <a:pPr marL="0" indent="0" algn="l">
              <a:lnSpc>
                <a:spcPct val="116923"/>
              </a:lnSpc>
              <a:buNone/>
            </a:pPr>
            <a:r>
              <a:rPr lang="en-US" sz="2100" b="1" dirty="0" err="1">
                <a:solidFill>
                  <a:srgbClr val="FFFFFF"/>
                </a:solidFill>
                <a:latin typeface="Arial" pitchFamily="34" charset="0"/>
                <a:ea typeface="Arial" pitchFamily="34" charset="-122"/>
                <a:cs typeface="Arial" pitchFamily="34" charset="-120"/>
              </a:rPr>
              <a:t>Açıklamalı risk</a:t>
            </a:r>
            <a:endParaRPr lang="en-US" sz="2100" dirty="0"/>
          </a:p>
        </p:txBody>
      </p:sp>
      <p:sp>
        <p:nvSpPr>
          <p:cNvPr id="35" name="Text 32"/>
          <p:cNvSpPr/>
          <p:nvPr/>
        </p:nvSpPr>
        <p:spPr>
          <a:xfrm>
            <a:off x="14289349" y="6293048"/>
            <a:ext cx="10493360" cy="361950"/>
          </a:xfrm>
          <a:prstGeom prst="rect">
            <a:avLst/>
          </a:prstGeom>
          <a:noFill/>
          <a:ln/>
        </p:spPr>
        <p:txBody>
          <a:bodyPr wrap="square" lIns="25400" tIns="25400" rIns="25400" bIns="25400" rtlCol="0" anchor="t">
            <a:normAutofit lnSpcReduction="10000"/>
          </a:bodyPr>
          <a:lstStyle/>
          <a:p>
            <a:pPr marL="0" indent="0" algn="l">
              <a:lnSpc>
                <a:spcPct val="117241"/>
              </a:lnSpc>
              <a:buNone/>
            </a:pPr>
            <a:r>
              <a:rPr lang="en-US" sz="1875" dirty="0" err="1">
                <a:solidFill>
                  <a:srgbClr val="C6C6D0"/>
                </a:solidFill>
                <a:latin typeface="Arial" pitchFamily="34" charset="0"/>
                <a:ea typeface="Arial" pitchFamily="34" charset="-122"/>
                <a:cs typeface="Arial" pitchFamily="34" charset="-120"/>
              </a:rPr>
              <a:t>Üs etrafında dönme, tutarlı yaklaşma, varış süresi, ağır araç, yanıltıcı rapor</a:t>
            </a:r>
            <a:endParaRPr lang="en-US" sz="1875" dirty="0"/>
          </a:p>
        </p:txBody>
      </p:sp>
      <p:sp>
        <p:nvSpPr>
          <p:cNvPr id="36" name="Shape 33"/>
          <p:cNvSpPr/>
          <p:nvPr/>
        </p:nvSpPr>
        <p:spPr>
          <a:xfrm>
            <a:off x="12856134" y="7059216"/>
            <a:ext cx="11361074" cy="1360884"/>
          </a:xfrm>
          <a:prstGeom prst="rect">
            <a:avLst/>
          </a:prstGeom>
          <a:solidFill>
            <a:srgbClr val="C9A6F0">
              <a:alpha val="8000"/>
            </a:srgbClr>
          </a:solidFill>
          <a:ln w="9525">
            <a:solidFill>
              <a:srgbClr val="C9A6F0">
                <a:alpha val="40000"/>
              </a:srgbClr>
            </a:solidFill>
            <a:prstDash val="solid"/>
          </a:ln>
        </p:spPr>
        <p:txBody>
          <a:bodyPr/>
          <a:lstStyle/>
          <a:p>
            <a:endParaRPr lang="tr-TR"/>
          </a:p>
        </p:txBody>
      </p:sp>
      <p:sp>
        <p:nvSpPr>
          <p:cNvPr id="37" name="Shape 34"/>
          <p:cNvSpPr/>
          <p:nvPr/>
        </p:nvSpPr>
        <p:spPr>
          <a:xfrm>
            <a:off x="13356792" y="7463433"/>
            <a:ext cx="552450" cy="552450"/>
          </a:xfrm>
          <a:prstGeom prst="rect">
            <a:avLst/>
          </a:prstGeom>
          <a:ln w="9525">
            <a:solidFill>
              <a:srgbClr val="C9A6F0">
                <a:alpha val="60000"/>
              </a:srgbClr>
            </a:solidFill>
            <a:prstDash val="solid"/>
          </a:ln>
        </p:spPr>
        <p:txBody>
          <a:bodyPr/>
          <a:lstStyle/>
          <a:p>
            <a:endParaRPr lang="tr-TR"/>
          </a:p>
        </p:txBody>
      </p:sp>
      <p:sp>
        <p:nvSpPr>
          <p:cNvPr id="38" name="Text 35"/>
          <p:cNvSpPr/>
          <p:nvPr/>
        </p:nvSpPr>
        <p:spPr>
          <a:xfrm>
            <a:off x="13204392" y="7472958"/>
            <a:ext cx="857250" cy="571500"/>
          </a:xfrm>
          <a:prstGeom prst="rect">
            <a:avLst/>
          </a:prstGeom>
          <a:noFill/>
          <a:ln/>
        </p:spPr>
        <p:txBody>
          <a:bodyPr wrap="square" lIns="25400" tIns="25400" rIns="25400" bIns="25400" rtlCol="0" anchor="ctr">
            <a:normAutofit/>
          </a:bodyPr>
          <a:lstStyle/>
          <a:p>
            <a:pPr marL="0" indent="0" algn="ctr">
              <a:buNone/>
            </a:pPr>
            <a:r>
              <a:rPr lang="en-US" sz="1950" dirty="0">
                <a:solidFill>
                  <a:srgbClr val="C9A6F0"/>
                </a:solidFill>
                <a:latin typeface="Arial" pitchFamily="34" charset="0"/>
                <a:ea typeface="Arial" pitchFamily="34" charset="-122"/>
                <a:cs typeface="Arial" pitchFamily="34" charset="-120"/>
              </a:rPr>
              <a:t>04</a:t>
            </a:r>
            <a:endParaRPr lang="en-US" sz="1950" dirty="0"/>
          </a:p>
        </p:txBody>
      </p:sp>
      <p:sp>
        <p:nvSpPr>
          <p:cNvPr id="39" name="Text 36"/>
          <p:cNvSpPr/>
          <p:nvPr/>
        </p:nvSpPr>
        <p:spPr>
          <a:xfrm>
            <a:off x="14289349" y="7387233"/>
            <a:ext cx="10493360" cy="400050"/>
          </a:xfrm>
          <a:prstGeom prst="rect">
            <a:avLst/>
          </a:prstGeom>
          <a:noFill/>
          <a:ln/>
        </p:spPr>
        <p:txBody>
          <a:bodyPr wrap="square" lIns="25400" tIns="25400" rIns="25400" bIns="25400" rtlCol="0" anchor="t">
            <a:normAutofit/>
          </a:bodyPr>
          <a:lstStyle/>
          <a:p>
            <a:pPr marL="0" indent="0" algn="l">
              <a:lnSpc>
                <a:spcPct val="116923"/>
              </a:lnSpc>
              <a:buNone/>
            </a:pPr>
            <a:r>
              <a:rPr lang="en-US" sz="2100" b="1" dirty="0" err="1">
                <a:solidFill>
                  <a:srgbClr val="FFFFFF"/>
                </a:solidFill>
                <a:latin typeface="Arial" pitchFamily="34" charset="0"/>
                <a:ea typeface="Arial" pitchFamily="34" charset="-122"/>
                <a:cs typeface="Arial" pitchFamily="34" charset="-120"/>
              </a:rPr>
              <a:t>AI analist</a:t>
            </a:r>
            <a:endParaRPr lang="en-US" sz="2100" dirty="0"/>
          </a:p>
        </p:txBody>
      </p:sp>
      <p:sp>
        <p:nvSpPr>
          <p:cNvPr id="40" name="Text 37"/>
          <p:cNvSpPr/>
          <p:nvPr/>
        </p:nvSpPr>
        <p:spPr>
          <a:xfrm>
            <a:off x="14289349" y="7768233"/>
            <a:ext cx="10493360" cy="361950"/>
          </a:xfrm>
          <a:prstGeom prst="rect">
            <a:avLst/>
          </a:prstGeom>
          <a:noFill/>
          <a:ln/>
        </p:spPr>
        <p:txBody>
          <a:bodyPr wrap="square" lIns="25400" tIns="25400" rIns="25400" bIns="25400" rtlCol="0" anchor="t">
            <a:normAutofit lnSpcReduction="10000"/>
          </a:bodyPr>
          <a:lstStyle/>
          <a:p>
            <a:pPr marL="0" indent="0" algn="l">
              <a:lnSpc>
                <a:spcPct val="117241"/>
              </a:lnSpc>
              <a:buNone/>
            </a:pPr>
            <a:r>
              <a:rPr lang="en-US" sz="1875" dirty="0" err="1">
                <a:solidFill>
                  <a:srgbClr val="C6C6D0"/>
                </a:solidFill>
                <a:latin typeface="Arial" pitchFamily="34" charset="0"/>
                <a:ea typeface="Arial" pitchFamily="34" charset="-122"/>
                <a:cs typeface="Arial" pitchFamily="34" charset="-120"/>
              </a:rPr>
              <a:t>Yalnızca belirsizlikte araştırır; her iddiayı kanıt kimliğine bağlar</a:t>
            </a:r>
            <a:endParaRPr lang="en-US" sz="1875" dirty="0"/>
          </a:p>
        </p:txBody>
      </p:sp>
      <p:pic>
        <p:nvPicPr>
          <p:cNvPr id="9" name="Resim 8">
            <a:extLst>
              <a:ext uri="{FF2B5EF4-FFF2-40B4-BE49-F238E27FC236}">
                <a16:creationId xmlns:a16="http://schemas.microsoft.com/office/drawing/2014/main" id="{B514F59A-9247-CD41-70F0-A4805C0B3D9B}"/>
              </a:ext>
            </a:extLst>
          </p:cNvPr>
          <p:cNvPicPr>
            <a:picLocks noChangeAspect="1"/>
          </p:cNvPicPr>
          <p:nvPr/>
        </p:nvPicPr>
        <p:blipFill>
          <a:blip r:embed="rId3"/>
          <a:stretch>
            <a:fillRect/>
          </a:stretch>
        </p:blipFill>
        <p:spPr>
          <a:xfrm>
            <a:off x="1038077" y="9334500"/>
            <a:ext cx="2049362" cy="323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262626"/>
        </a:solidFill>
        <a:effectLst/>
      </p:bgPr>
    </p:bg>
    <p:spTree>
      <p:nvGrpSpPr>
        <p:cNvPr id="1" name=""/>
        <p:cNvGrpSpPr/>
        <p:nvPr/>
      </p:nvGrpSpPr>
      <p:grpSpPr>
        <a:xfrm>
          <a:off x="0" y="0"/>
          <a:ext cx="0" cy="0"/>
          <a:chOff x="0" y="0"/>
          <a:chExt cx="0" cy="0"/>
        </a:xfrm>
      </p:grpSpPr>
      <p:sp>
        <p:nvSpPr>
          <p:cNvPr id="2" name="Shape 0"/>
          <p:cNvSpPr/>
          <p:nvPr/>
        </p:nvSpPr>
        <p:spPr>
          <a:xfrm>
            <a:off x="535781" y="381000"/>
            <a:ext cx="24645938" cy="8477250"/>
          </a:xfrm>
          <a:prstGeom prst="rect">
            <a:avLst/>
          </a:prstGeom>
          <a:gradFill rotWithShape="1">
            <a:gsLst>
              <a:gs pos="0">
                <a:srgbClr val="00D1D4">
                  <a:alpha val="100000"/>
                </a:srgbClr>
              </a:gs>
              <a:gs pos="100000">
                <a:srgbClr val="2078B4">
                  <a:alpha val="100000"/>
                </a:srgbClr>
              </a:gs>
            </a:gsLst>
            <a:lin ang="2700000" scaled="0"/>
          </a:gradFill>
          <a:ln/>
        </p:spPr>
        <p:txBody>
          <a:bodyPr/>
          <a:lstStyle/>
          <a:p>
            <a:endParaRPr lang="tr-TR"/>
          </a:p>
        </p:txBody>
      </p:sp>
      <p:sp>
        <p:nvSpPr>
          <p:cNvPr id="3" name="Shape 1"/>
          <p:cNvSpPr/>
          <p:nvPr/>
        </p:nvSpPr>
        <p:spPr>
          <a:xfrm>
            <a:off x="562570" y="400050"/>
            <a:ext cx="24592359" cy="8439150"/>
          </a:xfrm>
          <a:prstGeom prst="rect">
            <a:avLst/>
          </a:prstGeom>
          <a:solidFill>
            <a:srgbClr val="262626"/>
          </a:solidFill>
          <a:ln/>
        </p:spPr>
        <p:txBody>
          <a:bodyPr/>
          <a:lstStyle/>
          <a:p>
            <a:endParaRPr lang="tr-TR"/>
          </a:p>
        </p:txBody>
      </p:sp>
      <p:sp>
        <p:nvSpPr>
          <p:cNvPr id="4" name="Shape 2"/>
          <p:cNvSpPr/>
          <p:nvPr/>
        </p:nvSpPr>
        <p:spPr>
          <a:xfrm>
            <a:off x="535781" y="9048750"/>
            <a:ext cx="24645938" cy="857250"/>
          </a:xfrm>
          <a:prstGeom prst="rect">
            <a:avLst/>
          </a:prstGeom>
          <a:ln w="19050">
            <a:solidFill>
              <a:srgbClr val="00D1D4">
                <a:alpha val="50000"/>
              </a:srgbClr>
            </a:solidFill>
            <a:prstDash val="solid"/>
          </a:ln>
        </p:spPr>
        <p:txBody>
          <a:bodyPr/>
          <a:lstStyle/>
          <a:p>
            <a:endParaRPr lang="tr-TR"/>
          </a:p>
        </p:txBody>
      </p:sp>
      <p:sp>
        <p:nvSpPr>
          <p:cNvPr id="6" name="Text 3"/>
          <p:cNvSpPr/>
          <p:nvPr/>
        </p:nvSpPr>
        <p:spPr>
          <a:xfrm>
            <a:off x="21855794" y="9313069"/>
            <a:ext cx="3128093" cy="366713"/>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B9B9C4"/>
                </a:solidFill>
                <a:latin typeface="Arial" pitchFamily="34" charset="0"/>
                <a:ea typeface="Arial" pitchFamily="34" charset="-122"/>
                <a:cs typeface="Arial" pitchFamily="34" charset="-120"/>
              </a:rPr>
              <a:t>[TAKIM ADI] · 06</a:t>
            </a:r>
            <a:endParaRPr lang="en-US" sz="1800" dirty="0"/>
          </a:p>
        </p:txBody>
      </p:sp>
      <p:sp>
        <p:nvSpPr>
          <p:cNvPr id="7" name="Text 4"/>
          <p:cNvSpPr/>
          <p:nvPr/>
        </p:nvSpPr>
        <p:spPr>
          <a:xfrm>
            <a:off x="1500188" y="1414463"/>
            <a:ext cx="3059028" cy="400050"/>
          </a:xfrm>
          <a:prstGeom prst="rect">
            <a:avLst/>
          </a:prstGeom>
          <a:noFill/>
          <a:ln/>
        </p:spPr>
        <p:txBody>
          <a:bodyPr wrap="square" lIns="25400" tIns="25400" rIns="25400" bIns="25400" rtlCol="0" anchor="t">
            <a:normAutofit/>
          </a:bodyPr>
          <a:lstStyle/>
          <a:p>
            <a:pPr marL="0" indent="0" algn="l">
              <a:buNone/>
            </a:pPr>
            <a:r>
              <a:rPr lang="en-US" sz="1950" kern="0" spc="390" dirty="0">
                <a:solidFill>
                  <a:srgbClr val="00D1D4"/>
                </a:solidFill>
                <a:latin typeface="Arial" pitchFamily="34" charset="0"/>
                <a:ea typeface="Arial" pitchFamily="34" charset="-122"/>
                <a:cs typeface="Arial" pitchFamily="34" charset="-120"/>
              </a:rPr>
              <a:t>ÖRNEK VAKA</a:t>
            </a:r>
            <a:endParaRPr lang="en-US" sz="1950" dirty="0"/>
          </a:p>
        </p:txBody>
      </p:sp>
      <p:sp>
        <p:nvSpPr>
          <p:cNvPr id="8" name="Text 5"/>
          <p:cNvSpPr/>
          <p:nvPr/>
        </p:nvSpPr>
        <p:spPr>
          <a:xfrm>
            <a:off x="4656170" y="1143000"/>
            <a:ext cx="13179203" cy="704850"/>
          </a:xfrm>
          <a:prstGeom prst="rect">
            <a:avLst/>
          </a:prstGeom>
          <a:noFill/>
          <a:ln/>
        </p:spPr>
        <p:txBody>
          <a:bodyPr wrap="square" lIns="25400" tIns="25400" rIns="25400" bIns="25400" rtlCol="0" anchor="t">
            <a:normAutofit lnSpcReduction="10000"/>
          </a:bodyPr>
          <a:lstStyle/>
          <a:p>
            <a:pPr marL="0" indent="0" algn="l">
              <a:lnSpc>
                <a:spcPct val="98592"/>
              </a:lnSpc>
              <a:buNone/>
            </a:pPr>
            <a:r>
              <a:rPr lang="en-US" sz="4650" b="1" kern="0" spc="-139" dirty="0">
                <a:solidFill>
                  <a:srgbClr val="C9A6F0"/>
                </a:solidFill>
                <a:latin typeface="Arial" pitchFamily="34" charset="0"/>
                <a:ea typeface="Arial" pitchFamily="34" charset="-122"/>
                <a:cs typeface="Arial" pitchFamily="34" charset="-120"/>
              </a:rPr>
              <a:t>T0122 · Doğu Yolu · 14:10</a:t>
            </a:r>
            <a:endParaRPr lang="en-US" sz="4650" dirty="0"/>
          </a:p>
        </p:txBody>
      </p:sp>
      <p:sp>
        <p:nvSpPr>
          <p:cNvPr id="10" name="Text 7"/>
          <p:cNvSpPr/>
          <p:nvPr/>
        </p:nvSpPr>
        <p:spPr>
          <a:xfrm>
            <a:off x="1500188" y="2171700"/>
            <a:ext cx="7813731" cy="366713"/>
          </a:xfrm>
          <a:prstGeom prst="rect">
            <a:avLst/>
          </a:prstGeom>
          <a:noFill/>
          <a:ln/>
        </p:spPr>
        <p:txBody>
          <a:bodyPr wrap="square" lIns="25400" tIns="25400" rIns="25400" bIns="25400" rtlCol="0" anchor="t">
            <a:normAutofit/>
          </a:bodyPr>
          <a:lstStyle/>
          <a:p>
            <a:pPr marL="0" indent="0" algn="l">
              <a:buNone/>
            </a:pPr>
            <a:r>
              <a:rPr lang="en-US" kern="0" spc="360" dirty="0">
                <a:solidFill>
                  <a:srgbClr val="8C8C98"/>
                </a:solidFill>
                <a:latin typeface="Arial" pitchFamily="34" charset="0"/>
                <a:cs typeface="Arial" pitchFamily="34" charset="-120"/>
              </a:rPr>
              <a:t>GÖRÜNTÜ</a:t>
            </a:r>
            <a:endParaRPr lang="en-US" sz="1800" dirty="0"/>
          </a:p>
        </p:txBody>
      </p:sp>
      <p:sp>
        <p:nvSpPr>
          <p:cNvPr id="11" name="Shape 8"/>
          <p:cNvSpPr/>
          <p:nvPr/>
        </p:nvSpPr>
        <p:spPr>
          <a:xfrm>
            <a:off x="1500188" y="2633663"/>
            <a:ext cx="7103392" cy="5786438"/>
          </a:xfrm>
          <a:prstGeom prst="rect">
            <a:avLst/>
          </a:prstGeom>
          <a:solidFill>
            <a:srgbClr val="1E1E1E"/>
          </a:solidFill>
          <a:ln w="9525">
            <a:solidFill>
              <a:srgbClr val="00D1D4">
                <a:alpha val="35000"/>
              </a:srgbClr>
            </a:solidFill>
            <a:prstDash val="solid"/>
          </a:ln>
        </p:spPr>
        <p:txBody>
          <a:bodyPr/>
          <a:lstStyle/>
          <a:p>
            <a:endParaRPr lang="tr-TR"/>
          </a:p>
        </p:txBody>
      </p:sp>
      <p:sp>
        <p:nvSpPr>
          <p:cNvPr id="12" name="Text 9"/>
          <p:cNvSpPr/>
          <p:nvPr/>
        </p:nvSpPr>
        <p:spPr>
          <a:xfrm>
            <a:off x="8951837" y="2171700"/>
            <a:ext cx="7813731" cy="366713"/>
          </a:xfrm>
          <a:prstGeom prst="rect">
            <a:avLst/>
          </a:prstGeom>
          <a:noFill/>
          <a:ln/>
        </p:spPr>
        <p:txBody>
          <a:bodyPr wrap="square" lIns="25400" tIns="25400" rIns="25400" bIns="25400" rtlCol="0" anchor="t">
            <a:normAutofit/>
          </a:bodyPr>
          <a:lstStyle/>
          <a:p>
            <a:pPr marL="0" indent="0" algn="l">
              <a:buNone/>
            </a:pPr>
            <a:r>
              <a:rPr lang="en-US" sz="1800" kern="0" spc="360" dirty="0">
                <a:solidFill>
                  <a:srgbClr val="8C8C98"/>
                </a:solidFill>
                <a:latin typeface="Arial" pitchFamily="34" charset="0"/>
                <a:ea typeface="Arial" pitchFamily="34" charset="-122"/>
                <a:cs typeface="Arial" pitchFamily="34" charset="-120"/>
              </a:rPr>
              <a:t>KANITLAR</a:t>
            </a:r>
            <a:endParaRPr lang="en-US" sz="1800" dirty="0"/>
          </a:p>
        </p:txBody>
      </p:sp>
      <p:sp>
        <p:nvSpPr>
          <p:cNvPr id="13" name="Shape 10"/>
          <p:cNvSpPr/>
          <p:nvPr/>
        </p:nvSpPr>
        <p:spPr>
          <a:xfrm>
            <a:off x="8951837" y="2633663"/>
            <a:ext cx="7103392" cy="1839888"/>
          </a:xfrm>
          <a:prstGeom prst="rect">
            <a:avLst/>
          </a:prstGeom>
          <a:ln w="9525">
            <a:solidFill>
              <a:srgbClr val="FFFFFF">
                <a:alpha val="14000"/>
              </a:srgbClr>
            </a:solidFill>
            <a:prstDash val="solid"/>
          </a:ln>
        </p:spPr>
        <p:txBody>
          <a:bodyPr/>
          <a:lstStyle/>
          <a:p>
            <a:endParaRPr lang="tr-TR"/>
          </a:p>
        </p:txBody>
      </p:sp>
      <p:sp>
        <p:nvSpPr>
          <p:cNvPr id="14" name="Text 11"/>
          <p:cNvSpPr/>
          <p:nvPr/>
        </p:nvSpPr>
        <p:spPr>
          <a:xfrm>
            <a:off x="9313490" y="3170188"/>
            <a:ext cx="7018096" cy="366713"/>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009AFE"/>
                </a:solidFill>
                <a:latin typeface="Arial" pitchFamily="34" charset="0"/>
                <a:ea typeface="Arial" pitchFamily="34" charset="-122"/>
                <a:cs typeface="Arial" pitchFamily="34" charset="-120"/>
              </a:rPr>
              <a:t>NE GÖRÜLDÜ</a:t>
            </a:r>
            <a:endParaRPr lang="en-US" sz="1800" dirty="0"/>
          </a:p>
        </p:txBody>
      </p:sp>
      <p:sp>
        <p:nvSpPr>
          <p:cNvPr id="15" name="Text 12"/>
          <p:cNvSpPr/>
          <p:nvPr/>
        </p:nvSpPr>
        <p:spPr>
          <a:xfrm>
            <a:off x="9313490" y="3575000"/>
            <a:ext cx="7018096" cy="400050"/>
          </a:xfrm>
          <a:prstGeom prst="rect">
            <a:avLst/>
          </a:prstGeom>
          <a:noFill/>
          <a:ln/>
        </p:spPr>
        <p:txBody>
          <a:bodyPr wrap="square" lIns="25400" tIns="25400" rIns="25400" bIns="25400" rtlCol="0" anchor="t">
            <a:normAutofit lnSpcReduction="10000"/>
          </a:bodyPr>
          <a:lstStyle/>
          <a:p>
            <a:pPr marL="0" indent="0" algn="l">
              <a:lnSpc>
                <a:spcPct val="122581"/>
              </a:lnSpc>
              <a:buNone/>
            </a:pPr>
            <a:r>
              <a:rPr lang="en-US" sz="2025" dirty="0" err="1">
                <a:solidFill>
                  <a:srgbClr val="E2E2E9"/>
                </a:solidFill>
                <a:latin typeface="Arial" pitchFamily="34" charset="0"/>
                <a:ea typeface="Arial" pitchFamily="34" charset="-122"/>
                <a:cs typeface="Arial" pitchFamily="34" charset="-120"/>
              </a:rPr>
              <a:t>Kamyon · güven 0,10 · görsel teyit belirsiz → karar davranıştan</a:t>
            </a:r>
            <a:endParaRPr lang="en-US" sz="2025" dirty="0"/>
          </a:p>
        </p:txBody>
      </p:sp>
      <p:sp>
        <p:nvSpPr>
          <p:cNvPr id="16" name="Shape 13"/>
          <p:cNvSpPr/>
          <p:nvPr/>
        </p:nvSpPr>
        <p:spPr>
          <a:xfrm>
            <a:off x="8951837" y="4606900"/>
            <a:ext cx="7103392" cy="1839962"/>
          </a:xfrm>
          <a:prstGeom prst="rect">
            <a:avLst/>
          </a:prstGeom>
          <a:ln w="9525">
            <a:solidFill>
              <a:srgbClr val="FFFFFF">
                <a:alpha val="14000"/>
              </a:srgbClr>
            </a:solidFill>
            <a:prstDash val="solid"/>
          </a:ln>
        </p:spPr>
        <p:txBody>
          <a:bodyPr/>
          <a:lstStyle/>
          <a:p>
            <a:endParaRPr lang="tr-TR"/>
          </a:p>
        </p:txBody>
      </p:sp>
      <p:sp>
        <p:nvSpPr>
          <p:cNvPr id="17" name="Text 14"/>
          <p:cNvSpPr/>
          <p:nvPr/>
        </p:nvSpPr>
        <p:spPr>
          <a:xfrm>
            <a:off x="9313490" y="5143500"/>
            <a:ext cx="7018096" cy="366713"/>
          </a:xfrm>
          <a:prstGeom prst="rect">
            <a:avLst/>
          </a:prstGeom>
          <a:noFill/>
          <a:ln/>
        </p:spPr>
        <p:txBody>
          <a:bodyPr wrap="square" lIns="25400" tIns="25400" rIns="25400" bIns="25400" rtlCol="0" anchor="t">
            <a:normAutofit/>
          </a:bodyPr>
          <a:lstStyle/>
          <a:p>
            <a:pPr marL="0" indent="0" algn="l">
              <a:buNone/>
            </a:pPr>
            <a:r>
              <a:rPr lang="en-US" kern="0" spc="324" dirty="0">
                <a:solidFill>
                  <a:srgbClr val="00D1D4"/>
                </a:solidFill>
                <a:latin typeface="Arial" pitchFamily="34" charset="0"/>
                <a:cs typeface="Arial" pitchFamily="34" charset="-120"/>
              </a:rPr>
              <a:t>NASIL GELDİ</a:t>
            </a:r>
            <a:endParaRPr lang="en-US" sz="1800" dirty="0"/>
          </a:p>
        </p:txBody>
      </p:sp>
      <p:sp>
        <p:nvSpPr>
          <p:cNvPr id="18" name="Text 15"/>
          <p:cNvSpPr/>
          <p:nvPr/>
        </p:nvSpPr>
        <p:spPr>
          <a:xfrm>
            <a:off x="9313490" y="5548313"/>
            <a:ext cx="7018096" cy="400050"/>
          </a:xfrm>
          <a:prstGeom prst="rect">
            <a:avLst/>
          </a:prstGeom>
          <a:noFill/>
          <a:ln/>
        </p:spPr>
        <p:txBody>
          <a:bodyPr wrap="square" lIns="25400" tIns="25400" rIns="25400" bIns="25400" rtlCol="0" anchor="t">
            <a:normAutofit lnSpcReduction="10000"/>
          </a:bodyPr>
          <a:lstStyle/>
          <a:p>
            <a:pPr marL="0" indent="0" algn="l">
              <a:lnSpc>
                <a:spcPct val="122581"/>
              </a:lnSpc>
              <a:buNone/>
            </a:pPr>
            <a:r>
              <a:rPr lang="en-US" sz="2025" dirty="0" err="1">
                <a:solidFill>
                  <a:srgbClr val="E2E2E9"/>
                </a:solidFill>
                <a:latin typeface="Arial" pitchFamily="34" charset="0"/>
                <a:ea typeface="Arial" pitchFamily="34" charset="-122"/>
                <a:cs typeface="Arial" pitchFamily="34" charset="-120"/>
              </a:rPr>
              <a:t>6,0 → 1,6 km · 5 hareketin 5'i üsse doğru · ETA 26 dk</a:t>
            </a:r>
            <a:endParaRPr lang="en-US" sz="2025" dirty="0"/>
          </a:p>
        </p:txBody>
      </p:sp>
      <p:sp>
        <p:nvSpPr>
          <p:cNvPr id="19" name="Shape 16"/>
          <p:cNvSpPr/>
          <p:nvPr/>
        </p:nvSpPr>
        <p:spPr>
          <a:xfrm>
            <a:off x="8951837" y="6580212"/>
            <a:ext cx="7103392" cy="1839888"/>
          </a:xfrm>
          <a:prstGeom prst="rect">
            <a:avLst/>
          </a:prstGeom>
          <a:ln w="9525">
            <a:solidFill>
              <a:srgbClr val="FFFFFF">
                <a:alpha val="14000"/>
              </a:srgbClr>
            </a:solidFill>
            <a:prstDash val="solid"/>
          </a:ln>
        </p:spPr>
        <p:txBody>
          <a:bodyPr/>
          <a:lstStyle/>
          <a:p>
            <a:endParaRPr lang="tr-TR"/>
          </a:p>
        </p:txBody>
      </p:sp>
      <p:sp>
        <p:nvSpPr>
          <p:cNvPr id="20" name="Text 17"/>
          <p:cNvSpPr/>
          <p:nvPr/>
        </p:nvSpPr>
        <p:spPr>
          <a:xfrm>
            <a:off x="9313490" y="7116738"/>
            <a:ext cx="7018096" cy="366713"/>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C9A6F0"/>
                </a:solidFill>
                <a:latin typeface="Arial" pitchFamily="34" charset="0"/>
                <a:ea typeface="Arial" pitchFamily="34" charset="-122"/>
                <a:cs typeface="Arial" pitchFamily="34" charset="-120"/>
              </a:rPr>
              <a:t>RAPOR NE DİYOR</a:t>
            </a:r>
            <a:endParaRPr lang="en-US" sz="1800" dirty="0"/>
          </a:p>
        </p:txBody>
      </p:sp>
      <p:sp>
        <p:nvSpPr>
          <p:cNvPr id="21" name="Text 18"/>
          <p:cNvSpPr/>
          <p:nvPr/>
        </p:nvSpPr>
        <p:spPr>
          <a:xfrm>
            <a:off x="9313490" y="7521550"/>
            <a:ext cx="7018096" cy="400050"/>
          </a:xfrm>
          <a:prstGeom prst="rect">
            <a:avLst/>
          </a:prstGeom>
          <a:noFill/>
          <a:ln/>
        </p:spPr>
        <p:txBody>
          <a:bodyPr wrap="square" lIns="25400" tIns="25400" rIns="25400" bIns="25400" rtlCol="0" anchor="t">
            <a:normAutofit lnSpcReduction="10000"/>
          </a:bodyPr>
          <a:lstStyle/>
          <a:p>
            <a:pPr marL="0" indent="0" algn="l">
              <a:lnSpc>
                <a:spcPct val="122581"/>
              </a:lnSpc>
              <a:buNone/>
            </a:pPr>
            <a:r>
              <a:rPr lang="en-US" sz="2025" dirty="0" err="1">
                <a:solidFill>
                  <a:srgbClr val="E2E2E9"/>
                </a:solidFill>
                <a:latin typeface="Arial" pitchFamily="34" charset="0"/>
                <a:ea typeface="Arial" pitchFamily="34" charset="-122"/>
                <a:cs typeface="Arial" pitchFamily="34" charset="-120"/>
              </a:rPr>
              <a:t>12:35 'hareketleri olağan' → sonra üsse 4,3 km yaklaştı</a:t>
            </a:r>
            <a:endParaRPr lang="en-US" sz="2025" dirty="0"/>
          </a:p>
        </p:txBody>
      </p:sp>
      <p:sp>
        <p:nvSpPr>
          <p:cNvPr id="22" name="Text 19"/>
          <p:cNvSpPr/>
          <p:nvPr/>
        </p:nvSpPr>
        <p:spPr>
          <a:xfrm>
            <a:off x="16403487" y="2171700"/>
            <a:ext cx="8595208" cy="366713"/>
          </a:xfrm>
          <a:prstGeom prst="rect">
            <a:avLst/>
          </a:prstGeom>
          <a:noFill/>
          <a:ln/>
        </p:spPr>
        <p:txBody>
          <a:bodyPr wrap="square" lIns="25400" tIns="25400" rIns="25400" bIns="25400" rtlCol="0" anchor="t">
            <a:normAutofit/>
          </a:bodyPr>
          <a:lstStyle/>
          <a:p>
            <a:pPr marL="0" indent="0" algn="l">
              <a:buNone/>
            </a:pPr>
            <a:r>
              <a:rPr lang="en-US" sz="1800" kern="0" spc="360" dirty="0">
                <a:solidFill>
                  <a:srgbClr val="8C8C98"/>
                </a:solidFill>
                <a:latin typeface="Arial" pitchFamily="34" charset="0"/>
                <a:ea typeface="Arial" pitchFamily="34" charset="-122"/>
                <a:cs typeface="Arial" pitchFamily="34" charset="-120"/>
              </a:rPr>
              <a:t>KARAR</a:t>
            </a:r>
            <a:endParaRPr lang="en-US" sz="1800" dirty="0"/>
          </a:p>
        </p:txBody>
      </p:sp>
      <p:sp>
        <p:nvSpPr>
          <p:cNvPr id="23" name="Shape 20"/>
          <p:cNvSpPr/>
          <p:nvPr/>
        </p:nvSpPr>
        <p:spPr>
          <a:xfrm>
            <a:off x="16403487" y="2633663"/>
            <a:ext cx="7813825" cy="5786438"/>
          </a:xfrm>
          <a:prstGeom prst="rect">
            <a:avLst/>
          </a:prstGeom>
          <a:solidFill>
            <a:srgbClr val="C9A6F0">
              <a:alpha val="8000"/>
            </a:srgbClr>
          </a:solidFill>
          <a:ln w="9525">
            <a:solidFill>
              <a:srgbClr val="C9A6F0">
                <a:alpha val="40000"/>
              </a:srgbClr>
            </a:solidFill>
            <a:prstDash val="solid"/>
          </a:ln>
        </p:spPr>
        <p:txBody>
          <a:bodyPr/>
          <a:lstStyle/>
          <a:p>
            <a:endParaRPr lang="tr-TR"/>
          </a:p>
        </p:txBody>
      </p:sp>
      <p:sp>
        <p:nvSpPr>
          <p:cNvPr id="24" name="Text 21"/>
          <p:cNvSpPr/>
          <p:nvPr/>
        </p:nvSpPr>
        <p:spPr>
          <a:xfrm>
            <a:off x="16845507" y="2928938"/>
            <a:ext cx="7622765" cy="366713"/>
          </a:xfrm>
          <a:prstGeom prst="rect">
            <a:avLst/>
          </a:prstGeom>
          <a:noFill/>
          <a:ln/>
        </p:spPr>
        <p:txBody>
          <a:bodyPr wrap="square" lIns="25400" tIns="25400" rIns="25400" bIns="25400" rtlCol="0" anchor="t">
            <a:normAutofit/>
          </a:bodyPr>
          <a:lstStyle/>
          <a:p>
            <a:pPr marL="0" indent="0" algn="l">
              <a:buNone/>
            </a:pPr>
            <a:r>
              <a:rPr lang="en-US" kern="0" spc="324" dirty="0" err="1">
                <a:solidFill>
                  <a:srgbClr val="C9A6F0"/>
                </a:solidFill>
                <a:latin typeface="Arial" pitchFamily="34" charset="0"/>
                <a:cs typeface="Arial" pitchFamily="34" charset="-120"/>
              </a:rPr>
              <a:t>RİSK SEVİYESİ</a:t>
            </a:r>
            <a:endParaRPr lang="en-US" sz="1800" dirty="0"/>
          </a:p>
        </p:txBody>
      </p:sp>
      <p:sp>
        <p:nvSpPr>
          <p:cNvPr id="25" name="Text 22"/>
          <p:cNvSpPr/>
          <p:nvPr/>
        </p:nvSpPr>
        <p:spPr>
          <a:xfrm>
            <a:off x="16845507" y="3333750"/>
            <a:ext cx="7622765" cy="723900"/>
          </a:xfrm>
          <a:prstGeom prst="rect">
            <a:avLst/>
          </a:prstGeom>
          <a:noFill/>
          <a:ln/>
        </p:spPr>
        <p:txBody>
          <a:bodyPr wrap="square" lIns="25400" tIns="25400" rIns="25400" bIns="25400" rtlCol="0" anchor="t">
            <a:normAutofit lnSpcReduction="10000"/>
          </a:bodyPr>
          <a:lstStyle/>
          <a:p>
            <a:pPr marL="0" indent="0" algn="l">
              <a:lnSpc>
                <a:spcPct val="101408"/>
              </a:lnSpc>
              <a:buNone/>
            </a:pPr>
            <a:r>
              <a:rPr lang="en-US" sz="4650" b="1" kern="0" spc="-93" dirty="0" err="1">
                <a:solidFill>
                  <a:srgbClr val="FFFFFF"/>
                </a:solidFill>
                <a:latin typeface="Arial" pitchFamily="34" charset="0"/>
                <a:cs typeface="Arial" pitchFamily="34" charset="-120"/>
              </a:rPr>
              <a:t>KRİTİK</a:t>
            </a:r>
            <a:endParaRPr lang="en-US" sz="4650" dirty="0"/>
          </a:p>
        </p:txBody>
      </p:sp>
      <p:sp>
        <p:nvSpPr>
          <p:cNvPr id="26" name="Shape 23"/>
          <p:cNvSpPr/>
          <p:nvPr/>
        </p:nvSpPr>
        <p:spPr>
          <a:xfrm>
            <a:off x="16845507" y="4191000"/>
            <a:ext cx="1652027" cy="114300"/>
          </a:xfrm>
          <a:prstGeom prst="rect">
            <a:avLst/>
          </a:prstGeom>
          <a:solidFill>
            <a:srgbClr val="C9A6F0"/>
          </a:solidFill>
          <a:ln/>
        </p:spPr>
        <p:txBody>
          <a:bodyPr/>
          <a:lstStyle/>
          <a:p>
            <a:endParaRPr lang="tr-TR"/>
          </a:p>
        </p:txBody>
      </p:sp>
      <p:sp>
        <p:nvSpPr>
          <p:cNvPr id="27" name="Shape 24"/>
          <p:cNvSpPr/>
          <p:nvPr/>
        </p:nvSpPr>
        <p:spPr>
          <a:xfrm>
            <a:off x="18604690" y="4191000"/>
            <a:ext cx="1652131" cy="114300"/>
          </a:xfrm>
          <a:prstGeom prst="rect">
            <a:avLst/>
          </a:prstGeom>
          <a:solidFill>
            <a:srgbClr val="C9A6F0"/>
          </a:solidFill>
          <a:ln/>
        </p:spPr>
        <p:txBody>
          <a:bodyPr/>
          <a:lstStyle/>
          <a:p>
            <a:endParaRPr lang="tr-TR"/>
          </a:p>
        </p:txBody>
      </p:sp>
      <p:sp>
        <p:nvSpPr>
          <p:cNvPr id="28" name="Shape 25"/>
          <p:cNvSpPr/>
          <p:nvPr/>
        </p:nvSpPr>
        <p:spPr>
          <a:xfrm>
            <a:off x="20363978" y="4191000"/>
            <a:ext cx="1652027" cy="114300"/>
          </a:xfrm>
          <a:prstGeom prst="rect">
            <a:avLst/>
          </a:prstGeom>
          <a:solidFill>
            <a:srgbClr val="C9A6F0"/>
          </a:solidFill>
          <a:ln/>
        </p:spPr>
        <p:txBody>
          <a:bodyPr/>
          <a:lstStyle/>
          <a:p>
            <a:endParaRPr lang="tr-TR"/>
          </a:p>
        </p:txBody>
      </p:sp>
      <p:sp>
        <p:nvSpPr>
          <p:cNvPr id="29" name="Shape 26"/>
          <p:cNvSpPr/>
          <p:nvPr/>
        </p:nvSpPr>
        <p:spPr>
          <a:xfrm>
            <a:off x="22123162" y="4191000"/>
            <a:ext cx="1652131" cy="114300"/>
          </a:xfrm>
          <a:prstGeom prst="rect">
            <a:avLst/>
          </a:prstGeom>
          <a:solidFill>
            <a:srgbClr val="C9A6F0"/>
          </a:solidFill>
          <a:ln/>
        </p:spPr>
        <p:txBody>
          <a:bodyPr/>
          <a:lstStyle/>
          <a:p>
            <a:endParaRPr lang="tr-TR"/>
          </a:p>
        </p:txBody>
      </p:sp>
      <p:sp>
        <p:nvSpPr>
          <p:cNvPr id="30" name="Shape 27"/>
          <p:cNvSpPr/>
          <p:nvPr/>
        </p:nvSpPr>
        <p:spPr>
          <a:xfrm>
            <a:off x="16845507" y="4552950"/>
            <a:ext cx="6929786" cy="9525"/>
          </a:xfrm>
          <a:prstGeom prst="rect">
            <a:avLst/>
          </a:prstGeom>
          <a:solidFill>
            <a:srgbClr val="FFFFFF">
              <a:alpha val="18000"/>
            </a:srgbClr>
          </a:solidFill>
          <a:ln/>
        </p:spPr>
        <p:txBody>
          <a:bodyPr/>
          <a:lstStyle/>
          <a:p>
            <a:endParaRPr lang="tr-TR"/>
          </a:p>
        </p:txBody>
      </p:sp>
      <p:sp>
        <p:nvSpPr>
          <p:cNvPr id="31" name="Text 28"/>
          <p:cNvSpPr/>
          <p:nvPr/>
        </p:nvSpPr>
        <p:spPr>
          <a:xfrm>
            <a:off x="16845507" y="4772025"/>
            <a:ext cx="7622765" cy="366713"/>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8C8C98"/>
                </a:solidFill>
                <a:latin typeface="Arial" pitchFamily="34" charset="0"/>
                <a:ea typeface="Arial" pitchFamily="34" charset="-122"/>
                <a:cs typeface="Arial" pitchFamily="34" charset="-120"/>
              </a:rPr>
              <a:t>GEREKÇE</a:t>
            </a:r>
            <a:endParaRPr lang="en-US" sz="1800" dirty="0"/>
          </a:p>
        </p:txBody>
      </p:sp>
      <p:sp>
        <p:nvSpPr>
          <p:cNvPr id="32" name="Text 29"/>
          <p:cNvSpPr/>
          <p:nvPr/>
        </p:nvSpPr>
        <p:spPr>
          <a:xfrm>
            <a:off x="16845507" y="5195888"/>
            <a:ext cx="7137679" cy="3108960"/>
          </a:xfrm>
          <a:prstGeom prst="rect">
            <a:avLst/>
          </a:prstGeom>
          <a:noFill/>
          <a:ln/>
        </p:spPr>
        <p:txBody>
          <a:bodyPr wrap="square" lIns="25400" tIns="25400" rIns="25400" bIns="25400" rtlCol="0" anchor="t"/>
          <a:lstStyle/>
          <a:p>
            <a:pPr marL="0" indent="0" algn="l">
              <a:lnSpc>
                <a:spcPct val="129032"/>
              </a:lnSpc>
              <a:buNone/>
            </a:pPr>
            <a:r>
              <a:rPr lang="en-US" sz="2800" dirty="0" err="1">
                <a:solidFill>
                  <a:srgbClr val="E2E2E9"/>
                </a:solidFill>
                <a:latin typeface="Arial" pitchFamily="34" charset="0"/>
                <a:ea typeface="Arial" pitchFamily="34" charset="-122"/>
                <a:cs typeface="Arial" pitchFamily="34" charset="-120"/>
              </a:rPr>
              <a:t>Her hareketinde üsse yaklaşıyor, varış ~26 dk. Görüntü belirsiz, hareket kesin. 'Olağan' raporu riski düşürmez.</a:t>
            </a:r>
            <a:endParaRPr lang="en-US" sz="2025" dirty="0"/>
          </a:p>
          <a:p>
            <a:pPr marL="0" indent="0" algn="l">
              <a:lnSpc>
                <a:spcPct val="129032"/>
              </a:lnSpc>
              <a:buNone/>
            </a:pPr>
            <a:r>
              <a:rPr lang="en-US" sz="2800" dirty="0" err="1">
                <a:solidFill>
                  <a:srgbClr val="E2E2E9"/>
                </a:solidFill>
                <a:latin typeface="Arial" pitchFamily="34" charset="0"/>
                <a:ea typeface="Arial" pitchFamily="34" charset="-122"/>
                <a:cs typeface="Arial" pitchFamily="34" charset="-120"/>
              </a:rPr>
              <a:t>Kanıt: det:img_000860_006 · track:T0122 · report:R126</a:t>
            </a:r>
            <a:endParaRPr lang="en-US" sz="2025" dirty="0"/>
          </a:p>
        </p:txBody>
      </p:sp>
      <p:pic>
        <p:nvPicPr>
          <p:cNvPr id="9" name="Resim 8">
            <a:extLst>
              <a:ext uri="{FF2B5EF4-FFF2-40B4-BE49-F238E27FC236}">
                <a16:creationId xmlns:a16="http://schemas.microsoft.com/office/drawing/2014/main" id="{8B18D4BD-0AAB-FC45-5F47-189F2D47F59C}"/>
              </a:ext>
            </a:extLst>
          </p:cNvPr>
          <p:cNvPicPr>
            <a:picLocks noChangeAspect="1"/>
          </p:cNvPicPr>
          <p:nvPr/>
        </p:nvPicPr>
        <p:blipFill>
          <a:blip r:embed="rId3"/>
          <a:stretch>
            <a:fillRect/>
          </a:stretch>
        </p:blipFill>
        <p:spPr>
          <a:xfrm>
            <a:off x="1038077" y="9334500"/>
            <a:ext cx="2049362" cy="323850"/>
          </a:xfrm>
          <a:prstGeom prst="rect">
            <a:avLst/>
          </a:prstGeom>
        </p:spPr>
      </p:pic>
      <p:pic>
        <p:nvPicPr>
          <p:cNvPr id="33" name="Picture 32" descr="t0122.jpg"/>
          <p:cNvPicPr>
            <a:picLocks noChangeAspect="1"/>
          </p:cNvPicPr>
          <p:nvPr/>
        </p:nvPicPr>
        <p:blipFill>
          <a:blip r:embed="rId4"/>
          <a:stretch>
            <a:fillRect/>
          </a:stretch>
        </p:blipFill>
        <p:spPr>
          <a:xfrm>
            <a:off x="1500188" y="2633663"/>
            <a:ext cx="7103392" cy="578643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1F1F1F"/>
        </a:solidFill>
        <a:effectLst/>
      </p:bgPr>
    </p:bg>
    <p:spTree>
      <p:nvGrpSpPr>
        <p:cNvPr id="1" name=""/>
        <p:cNvGrpSpPr/>
        <p:nvPr/>
      </p:nvGrpSpPr>
      <p:grpSpPr>
        <a:xfrm>
          <a:off x="0" y="0"/>
          <a:ext cx="0" cy="0"/>
          <a:chOff x="0" y="0"/>
          <a:chExt cx="0" cy="0"/>
        </a:xfrm>
      </p:grpSpPr>
      <p:sp>
        <p:nvSpPr>
          <p:cNvPr id="2" name="Shape 0"/>
          <p:cNvSpPr/>
          <p:nvPr/>
        </p:nvSpPr>
        <p:spPr>
          <a:xfrm>
            <a:off x="535781" y="381000"/>
            <a:ext cx="24645938" cy="8477250"/>
          </a:xfrm>
          <a:prstGeom prst="rect">
            <a:avLst/>
          </a:prstGeom>
          <a:gradFill rotWithShape="1">
            <a:gsLst>
              <a:gs pos="0">
                <a:srgbClr val="00D1D4">
                  <a:alpha val="100000"/>
                </a:srgbClr>
              </a:gs>
              <a:gs pos="100000">
                <a:srgbClr val="2078B4">
                  <a:alpha val="100000"/>
                </a:srgbClr>
              </a:gs>
            </a:gsLst>
            <a:lin ang="2700000" scaled="0"/>
          </a:gradFill>
          <a:ln/>
        </p:spPr>
        <p:txBody>
          <a:bodyPr/>
          <a:lstStyle/>
          <a:p>
            <a:endParaRPr lang="tr-TR"/>
          </a:p>
        </p:txBody>
      </p:sp>
      <p:sp>
        <p:nvSpPr>
          <p:cNvPr id="3" name="Shape 1"/>
          <p:cNvSpPr/>
          <p:nvPr/>
        </p:nvSpPr>
        <p:spPr>
          <a:xfrm>
            <a:off x="562570" y="400050"/>
            <a:ext cx="24592359" cy="8439150"/>
          </a:xfrm>
          <a:prstGeom prst="rect">
            <a:avLst/>
          </a:prstGeom>
          <a:solidFill>
            <a:srgbClr val="1F1F1F"/>
          </a:solidFill>
          <a:ln/>
        </p:spPr>
        <p:txBody>
          <a:bodyPr/>
          <a:lstStyle/>
          <a:p>
            <a:endParaRPr lang="tr-TR"/>
          </a:p>
        </p:txBody>
      </p:sp>
      <p:sp>
        <p:nvSpPr>
          <p:cNvPr id="4" name="Shape 2"/>
          <p:cNvSpPr/>
          <p:nvPr/>
        </p:nvSpPr>
        <p:spPr>
          <a:xfrm>
            <a:off x="535781" y="9048750"/>
            <a:ext cx="24645938" cy="857250"/>
          </a:xfrm>
          <a:prstGeom prst="rect">
            <a:avLst/>
          </a:prstGeom>
          <a:ln w="19050">
            <a:solidFill>
              <a:srgbClr val="00D1D4">
                <a:alpha val="50000"/>
              </a:srgbClr>
            </a:solidFill>
            <a:prstDash val="solid"/>
          </a:ln>
        </p:spPr>
        <p:txBody>
          <a:bodyPr/>
          <a:lstStyle/>
          <a:p>
            <a:endParaRPr lang="tr-TR"/>
          </a:p>
        </p:txBody>
      </p:sp>
      <p:sp>
        <p:nvSpPr>
          <p:cNvPr id="6" name="Text 3"/>
          <p:cNvSpPr/>
          <p:nvPr/>
        </p:nvSpPr>
        <p:spPr>
          <a:xfrm>
            <a:off x="21896291" y="9313069"/>
            <a:ext cx="3083546" cy="366713"/>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B9B9C4"/>
                </a:solidFill>
                <a:latin typeface="Arial" pitchFamily="34" charset="0"/>
                <a:ea typeface="Arial" pitchFamily="34" charset="-122"/>
                <a:cs typeface="Arial" pitchFamily="34" charset="-120"/>
              </a:rPr>
              <a:t>[TAKIM ADI] · 08</a:t>
            </a:r>
            <a:endParaRPr lang="en-US" sz="1800" dirty="0"/>
          </a:p>
        </p:txBody>
      </p:sp>
      <p:sp>
        <p:nvSpPr>
          <p:cNvPr id="7" name="Text 4"/>
          <p:cNvSpPr/>
          <p:nvPr/>
        </p:nvSpPr>
        <p:spPr>
          <a:xfrm>
            <a:off x="1500188" y="1143000"/>
            <a:ext cx="3037964" cy="400050"/>
          </a:xfrm>
          <a:prstGeom prst="rect">
            <a:avLst/>
          </a:prstGeom>
          <a:noFill/>
          <a:ln/>
        </p:spPr>
        <p:txBody>
          <a:bodyPr wrap="square" lIns="25400" tIns="25400" rIns="25400" bIns="25400" rtlCol="0" anchor="t">
            <a:normAutofit/>
          </a:bodyPr>
          <a:lstStyle/>
          <a:p>
            <a:pPr marL="0" indent="0" algn="l">
              <a:buNone/>
            </a:pPr>
            <a:r>
              <a:rPr lang="en-US" sz="1950" kern="0" spc="390" dirty="0">
                <a:solidFill>
                  <a:srgbClr val="00D1D4"/>
                </a:solidFill>
                <a:latin typeface="Arial" pitchFamily="34" charset="0"/>
                <a:ea typeface="Arial" pitchFamily="34" charset="-122"/>
                <a:cs typeface="Arial" pitchFamily="34" charset="-120"/>
              </a:rPr>
              <a:t>CANLI DEMO</a:t>
            </a:r>
            <a:endParaRPr lang="en-US" sz="1950" dirty="0"/>
          </a:p>
        </p:txBody>
      </p:sp>
      <p:sp>
        <p:nvSpPr>
          <p:cNvPr id="9" name="Shape 6"/>
          <p:cNvSpPr/>
          <p:nvPr/>
        </p:nvSpPr>
        <p:spPr>
          <a:xfrm>
            <a:off x="1500188" y="1657350"/>
            <a:ext cx="15671602" cy="6262688"/>
          </a:xfrm>
          <a:prstGeom prst="rect">
            <a:avLst/>
          </a:prstGeom>
          <a:solidFill>
            <a:srgbClr val="141414"/>
          </a:solidFill>
          <a:ln w="9525">
            <a:solidFill>
              <a:srgbClr val="00D1D4">
                <a:alpha val="40000"/>
              </a:srgbClr>
            </a:solidFill>
            <a:prstDash val="solid"/>
          </a:ln>
        </p:spPr>
        <p:txBody>
          <a:bodyPr/>
          <a:lstStyle/>
          <a:p>
            <a:endParaRPr lang="tr-TR"/>
          </a:p>
        </p:txBody>
      </p:sp>
      <p:sp>
        <p:nvSpPr>
          <p:cNvPr id="17" name="Text 14"/>
          <p:cNvSpPr/>
          <p:nvPr/>
        </p:nvSpPr>
        <p:spPr>
          <a:xfrm>
            <a:off x="1500188" y="8072438"/>
            <a:ext cx="17238762" cy="385763"/>
          </a:xfrm>
          <a:prstGeom prst="rect">
            <a:avLst/>
          </a:prstGeom>
          <a:noFill/>
          <a:ln/>
        </p:spPr>
        <p:txBody>
          <a:bodyPr wrap="square" lIns="25400" tIns="25400" rIns="25400" bIns="25400" rtlCol="0" anchor="t">
            <a:normAutofit/>
          </a:bodyPr>
          <a:lstStyle/>
          <a:p>
            <a:pPr marL="0" indent="0" algn="l">
              <a:buNone/>
            </a:pPr>
            <a:r>
              <a:rPr lang="en-US" sz="1875" dirty="0">
                <a:solidFill>
                  <a:srgbClr val="B9B9C4"/>
                </a:solidFill>
                <a:latin typeface="Arial" pitchFamily="34" charset="0"/>
                <a:ea typeface="Arial" pitchFamily="34" charset="-122"/>
                <a:cs typeface="Arial" pitchFamily="34" charset="-120"/>
              </a:rPr>
              <a:t>Operasyon ekranı: olay akışı · harita · gerekçe paneli · Analist Asistanı</a:t>
            </a:r>
            <a:endParaRPr lang="en-US" sz="1875" dirty="0"/>
          </a:p>
        </p:txBody>
      </p:sp>
      <p:sp>
        <p:nvSpPr>
          <p:cNvPr id="18" name="Text 15"/>
          <p:cNvSpPr/>
          <p:nvPr/>
        </p:nvSpPr>
        <p:spPr>
          <a:xfrm>
            <a:off x="17921883" y="1143000"/>
            <a:ext cx="6924973" cy="704850"/>
          </a:xfrm>
          <a:prstGeom prst="rect">
            <a:avLst/>
          </a:prstGeom>
          <a:noFill/>
          <a:ln/>
        </p:spPr>
        <p:txBody>
          <a:bodyPr wrap="square" lIns="25400" tIns="25400" rIns="25400" bIns="25400" rtlCol="0" anchor="t">
            <a:normAutofit lnSpcReduction="10000"/>
          </a:bodyPr>
          <a:lstStyle/>
          <a:p>
            <a:pPr marL="0" indent="0" algn="l">
              <a:lnSpc>
                <a:spcPct val="98592"/>
              </a:lnSpc>
              <a:buNone/>
            </a:pPr>
            <a:r>
              <a:rPr lang="en-US" sz="4650" b="1" kern="0" spc="-139" dirty="0">
                <a:solidFill>
                  <a:srgbClr val="C9A6F0"/>
                </a:solidFill>
                <a:latin typeface="Arial" pitchFamily="34" charset="0"/>
                <a:ea typeface="Arial" pitchFamily="34" charset="-122"/>
                <a:cs typeface="Arial" pitchFamily="34" charset="-120"/>
              </a:rPr>
              <a:t>Operatörün ekranı</a:t>
            </a:r>
            <a:endParaRPr lang="en-US" sz="4650" dirty="0"/>
          </a:p>
        </p:txBody>
      </p:sp>
      <p:sp>
        <p:nvSpPr>
          <p:cNvPr id="19" name="Text 16"/>
          <p:cNvSpPr/>
          <p:nvPr/>
        </p:nvSpPr>
        <p:spPr>
          <a:xfrm>
            <a:off x="17921883" y="2000250"/>
            <a:ext cx="6484292" cy="800100"/>
          </a:xfrm>
          <a:prstGeom prst="rect">
            <a:avLst/>
          </a:prstGeom>
          <a:noFill/>
          <a:ln/>
        </p:spPr>
        <p:txBody>
          <a:bodyPr wrap="square" lIns="25400" tIns="25400" rIns="25400" bIns="25400" rtlCol="0" anchor="t">
            <a:normAutofit/>
          </a:bodyPr>
          <a:lstStyle/>
          <a:p>
            <a:pPr marL="0" indent="0" algn="l">
              <a:lnSpc>
                <a:spcPct val="123077"/>
              </a:lnSpc>
              <a:buNone/>
            </a:pPr>
            <a:r>
              <a:rPr lang="en-US" sz="2100" dirty="0" err="1">
                <a:solidFill>
                  <a:srgbClr val="D6D6DE"/>
                </a:solidFill>
                <a:latin typeface="Arial" pitchFamily="34" charset="0"/>
                <a:ea typeface="Arial" pitchFamily="34" charset="-122"/>
                <a:cs typeface="Arial" pitchFamily="34" charset="-120"/>
              </a:rPr>
              <a:t>40 fotoğraf, 226 araç, 137 rapor: tek ekranda, gerekçesiyle.</a:t>
            </a:r>
            <a:endParaRPr lang="en-US" sz="2100" dirty="0"/>
          </a:p>
        </p:txBody>
      </p:sp>
      <p:sp>
        <p:nvSpPr>
          <p:cNvPr id="20" name="Shape 17"/>
          <p:cNvSpPr/>
          <p:nvPr/>
        </p:nvSpPr>
        <p:spPr>
          <a:xfrm>
            <a:off x="17921883" y="3028950"/>
            <a:ext cx="6295430" cy="9525"/>
          </a:xfrm>
          <a:prstGeom prst="rect">
            <a:avLst/>
          </a:prstGeom>
          <a:solidFill>
            <a:srgbClr val="FFFFFF">
              <a:alpha val="16000"/>
            </a:srgbClr>
          </a:solidFill>
          <a:ln/>
        </p:spPr>
        <p:txBody>
          <a:bodyPr/>
          <a:lstStyle/>
          <a:p>
            <a:endParaRPr lang="tr-TR"/>
          </a:p>
        </p:txBody>
      </p:sp>
      <p:sp>
        <p:nvSpPr>
          <p:cNvPr id="21" name="Text 18"/>
          <p:cNvSpPr/>
          <p:nvPr/>
        </p:nvSpPr>
        <p:spPr>
          <a:xfrm>
            <a:off x="17921883" y="3305175"/>
            <a:ext cx="6924973" cy="366713"/>
          </a:xfrm>
          <a:prstGeom prst="rect">
            <a:avLst/>
          </a:prstGeom>
          <a:noFill/>
          <a:ln/>
        </p:spPr>
        <p:txBody>
          <a:bodyPr wrap="square" lIns="25400" tIns="25400" rIns="25400" bIns="25400" rtlCol="0" anchor="t">
            <a:normAutofit/>
          </a:bodyPr>
          <a:lstStyle/>
          <a:p>
            <a:pPr marL="0" indent="0" algn="l">
              <a:buNone/>
            </a:pPr>
            <a:r>
              <a:rPr lang="en-US" sz="1800" kern="0" spc="360" dirty="0">
                <a:solidFill>
                  <a:srgbClr val="8C8C98"/>
                </a:solidFill>
                <a:latin typeface="Arial" pitchFamily="34" charset="0"/>
                <a:ea typeface="Arial" pitchFamily="34" charset="-122"/>
                <a:cs typeface="Arial" pitchFamily="34" charset="-120"/>
              </a:rPr>
              <a:t>İZLERKEN DİKKAT</a:t>
            </a:r>
            <a:endParaRPr lang="en-US" sz="1800" dirty="0"/>
          </a:p>
        </p:txBody>
      </p:sp>
      <p:sp>
        <p:nvSpPr>
          <p:cNvPr id="22" name="Text 19"/>
          <p:cNvSpPr/>
          <p:nvPr/>
        </p:nvSpPr>
        <p:spPr>
          <a:xfrm>
            <a:off x="17921883" y="3805237"/>
            <a:ext cx="949023" cy="385763"/>
          </a:xfrm>
          <a:prstGeom prst="rect">
            <a:avLst/>
          </a:prstGeom>
          <a:noFill/>
          <a:ln/>
        </p:spPr>
        <p:txBody>
          <a:bodyPr wrap="square" lIns="25400" tIns="25400" rIns="25400" bIns="25400" rtlCol="0" anchor="t">
            <a:normAutofit/>
          </a:bodyPr>
          <a:lstStyle/>
          <a:p>
            <a:pPr marL="0" indent="0" algn="l">
              <a:buNone/>
            </a:pPr>
            <a:r>
              <a:rPr lang="en-US" sz="1875" dirty="0">
                <a:solidFill>
                  <a:srgbClr val="00D1D4"/>
                </a:solidFill>
                <a:latin typeface="Arial" pitchFamily="34" charset="0"/>
                <a:ea typeface="Arial" pitchFamily="34" charset="-122"/>
                <a:cs typeface="Arial" pitchFamily="34" charset="-120"/>
              </a:rPr>
              <a:t>00:15</a:t>
            </a:r>
            <a:endParaRPr lang="en-US" sz="1875" dirty="0"/>
          </a:p>
        </p:txBody>
      </p:sp>
      <p:sp>
        <p:nvSpPr>
          <p:cNvPr id="23" name="Text 20"/>
          <p:cNvSpPr/>
          <p:nvPr/>
        </p:nvSpPr>
        <p:spPr>
          <a:xfrm>
            <a:off x="18978062" y="3810000"/>
            <a:ext cx="3839700" cy="381000"/>
          </a:xfrm>
          <a:prstGeom prst="rect">
            <a:avLst/>
          </a:prstGeom>
          <a:noFill/>
          <a:ln/>
        </p:spPr>
        <p:txBody>
          <a:bodyPr wrap="square" lIns="25400" tIns="25400" rIns="25400" bIns="25400" rtlCol="0" anchor="t">
            <a:normAutofit/>
          </a:bodyPr>
          <a:lstStyle/>
          <a:p>
            <a:pPr marL="0" indent="0" algn="l">
              <a:lnSpc>
                <a:spcPct val="124138"/>
              </a:lnSpc>
              <a:buNone/>
            </a:pPr>
            <a:r>
              <a:rPr lang="en-US" sz="1875" dirty="0" err="1">
                <a:solidFill>
                  <a:srgbClr val="E2E2E9"/>
                </a:solidFill>
                <a:latin typeface="Arial" pitchFamily="34" charset="0"/>
                <a:ea typeface="Arial" pitchFamily="34" charset="-122"/>
                <a:cs typeface="Arial" pitchFamily="34" charset="-120"/>
              </a:rPr>
              <a:t>T0122'nin yaklaşmasını izle</a:t>
            </a:r>
            <a:endParaRPr lang="en-US" sz="1875" dirty="0"/>
          </a:p>
        </p:txBody>
      </p:sp>
      <p:sp>
        <p:nvSpPr>
          <p:cNvPr id="24" name="Text 21"/>
          <p:cNvSpPr/>
          <p:nvPr/>
        </p:nvSpPr>
        <p:spPr>
          <a:xfrm>
            <a:off x="17921883" y="4286250"/>
            <a:ext cx="910828" cy="385763"/>
          </a:xfrm>
          <a:prstGeom prst="rect">
            <a:avLst/>
          </a:prstGeom>
          <a:noFill/>
          <a:ln/>
        </p:spPr>
        <p:txBody>
          <a:bodyPr wrap="square" lIns="25400" tIns="25400" rIns="25400" bIns="25400" rtlCol="0" anchor="t">
            <a:normAutofit/>
          </a:bodyPr>
          <a:lstStyle/>
          <a:p>
            <a:pPr marL="0" indent="0" algn="l">
              <a:buNone/>
            </a:pPr>
            <a:r>
              <a:rPr lang="en-US" sz="1875" dirty="0">
                <a:solidFill>
                  <a:srgbClr val="009AFE"/>
                </a:solidFill>
                <a:latin typeface="Arial" pitchFamily="34" charset="0"/>
                <a:ea typeface="Arial" pitchFamily="34" charset="-122"/>
                <a:cs typeface="Arial" pitchFamily="34" charset="-120"/>
              </a:rPr>
              <a:t>01:10</a:t>
            </a:r>
            <a:endParaRPr lang="en-US" sz="1875" dirty="0"/>
          </a:p>
        </p:txBody>
      </p:sp>
      <p:sp>
        <p:nvSpPr>
          <p:cNvPr id="25" name="Text 22"/>
          <p:cNvSpPr/>
          <p:nvPr/>
        </p:nvSpPr>
        <p:spPr>
          <a:xfrm>
            <a:off x="18939867" y="4291013"/>
            <a:ext cx="3498286" cy="381000"/>
          </a:xfrm>
          <a:prstGeom prst="rect">
            <a:avLst/>
          </a:prstGeom>
          <a:noFill/>
          <a:ln/>
        </p:spPr>
        <p:txBody>
          <a:bodyPr wrap="square" lIns="25400" tIns="25400" rIns="25400" bIns="25400" rtlCol="0" anchor="t">
            <a:normAutofit/>
          </a:bodyPr>
          <a:lstStyle/>
          <a:p>
            <a:pPr marL="0" indent="0" algn="l">
              <a:lnSpc>
                <a:spcPct val="124138"/>
              </a:lnSpc>
              <a:buNone/>
            </a:pPr>
            <a:r>
              <a:rPr lang="en-US" sz="1875" dirty="0" err="1">
                <a:solidFill>
                  <a:srgbClr val="E2E2E9"/>
                </a:solidFill>
                <a:latin typeface="Arial" pitchFamily="34" charset="0"/>
                <a:ea typeface="Arial" pitchFamily="34" charset="-122"/>
                <a:cs typeface="Arial" pitchFamily="34" charset="-120"/>
              </a:rPr>
              <a:t>Rapor sına · T0034 turu</a:t>
            </a:r>
            <a:endParaRPr lang="en-US" sz="1875" dirty="0"/>
          </a:p>
        </p:txBody>
      </p:sp>
      <p:sp>
        <p:nvSpPr>
          <p:cNvPr id="26" name="Text 23"/>
          <p:cNvSpPr/>
          <p:nvPr/>
        </p:nvSpPr>
        <p:spPr>
          <a:xfrm>
            <a:off x="17921883" y="4767263"/>
            <a:ext cx="988893" cy="385763"/>
          </a:xfrm>
          <a:prstGeom prst="rect">
            <a:avLst/>
          </a:prstGeom>
          <a:noFill/>
          <a:ln/>
        </p:spPr>
        <p:txBody>
          <a:bodyPr wrap="square" lIns="25400" tIns="25400" rIns="25400" bIns="25400" rtlCol="0" anchor="t">
            <a:normAutofit/>
          </a:bodyPr>
          <a:lstStyle/>
          <a:p>
            <a:pPr marL="0" indent="0" algn="l">
              <a:buNone/>
            </a:pPr>
            <a:r>
              <a:rPr lang="en-US" sz="1875" dirty="0">
                <a:solidFill>
                  <a:srgbClr val="C9A6F0"/>
                </a:solidFill>
                <a:latin typeface="Arial" pitchFamily="34" charset="0"/>
                <a:ea typeface="Arial" pitchFamily="34" charset="-122"/>
                <a:cs typeface="Arial" pitchFamily="34" charset="-120"/>
              </a:rPr>
              <a:t>02:05</a:t>
            </a:r>
            <a:endParaRPr lang="en-US" sz="1875" dirty="0"/>
          </a:p>
        </p:txBody>
      </p:sp>
      <p:sp>
        <p:nvSpPr>
          <p:cNvPr id="27" name="Text 24"/>
          <p:cNvSpPr/>
          <p:nvPr/>
        </p:nvSpPr>
        <p:spPr>
          <a:xfrm>
            <a:off x="19017932" y="4772025"/>
            <a:ext cx="3647467" cy="381000"/>
          </a:xfrm>
          <a:prstGeom prst="rect">
            <a:avLst/>
          </a:prstGeom>
          <a:noFill/>
          <a:ln/>
        </p:spPr>
        <p:txBody>
          <a:bodyPr wrap="square" lIns="25400" tIns="25400" rIns="25400" bIns="25400" rtlCol="0" anchor="t">
            <a:normAutofit/>
          </a:bodyPr>
          <a:lstStyle/>
          <a:p>
            <a:pPr marL="0" indent="0" algn="l">
              <a:lnSpc>
                <a:spcPct val="124138"/>
              </a:lnSpc>
              <a:buNone/>
            </a:pPr>
            <a:r>
              <a:rPr lang="en-US" sz="1875" dirty="0" err="1">
                <a:solidFill>
                  <a:srgbClr val="E2E2E9"/>
                </a:solidFill>
                <a:latin typeface="Arial" pitchFamily="34" charset="0"/>
                <a:ea typeface="Arial" pitchFamily="34" charset="-122"/>
                <a:cs typeface="Arial" pitchFamily="34" charset="-120"/>
              </a:rPr>
              <a:t>Tüm gün + Asistan</a:t>
            </a:r>
            <a:endParaRPr lang="en-US" sz="1875" dirty="0"/>
          </a:p>
        </p:txBody>
      </p:sp>
      <p:sp>
        <p:nvSpPr>
          <p:cNvPr id="28" name="Shape 25"/>
          <p:cNvSpPr/>
          <p:nvPr/>
        </p:nvSpPr>
        <p:spPr>
          <a:xfrm>
            <a:off x="17921883" y="7234238"/>
            <a:ext cx="6295430" cy="1185863"/>
          </a:xfrm>
          <a:prstGeom prst="rect">
            <a:avLst/>
          </a:prstGeom>
          <a:ln w="9525">
            <a:solidFill>
              <a:srgbClr val="00D1D4">
                <a:alpha val="35000"/>
              </a:srgbClr>
            </a:solidFill>
            <a:prstDash val="solid"/>
          </a:ln>
        </p:spPr>
        <p:txBody>
          <a:bodyPr/>
          <a:lstStyle/>
          <a:p>
            <a:endParaRPr lang="tr-TR"/>
          </a:p>
        </p:txBody>
      </p:sp>
      <p:sp>
        <p:nvSpPr>
          <p:cNvPr id="29" name="Text 26"/>
          <p:cNvSpPr/>
          <p:nvPr/>
        </p:nvSpPr>
        <p:spPr>
          <a:xfrm>
            <a:off x="18283535" y="7453312"/>
            <a:ext cx="6129338" cy="366713"/>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00D1D4"/>
                </a:solidFill>
                <a:latin typeface="Arial" pitchFamily="34" charset="0"/>
                <a:ea typeface="Arial" pitchFamily="34" charset="-122"/>
                <a:cs typeface="Arial" pitchFamily="34" charset="-120"/>
              </a:rPr>
              <a:t>BAĞLANTI</a:t>
            </a:r>
            <a:endParaRPr lang="en-US" sz="1800" dirty="0"/>
          </a:p>
        </p:txBody>
      </p:sp>
      <p:sp>
        <p:nvSpPr>
          <p:cNvPr id="30" name="Text 27"/>
          <p:cNvSpPr/>
          <p:nvPr/>
        </p:nvSpPr>
        <p:spPr>
          <a:xfrm>
            <a:off x="18283535" y="7858125"/>
            <a:ext cx="6129338" cy="381000"/>
          </a:xfrm>
          <a:prstGeom prst="rect">
            <a:avLst/>
          </a:prstGeom>
          <a:noFill/>
          <a:ln/>
        </p:spPr>
        <p:txBody>
          <a:bodyPr wrap="square" lIns="25400" tIns="25400" rIns="25400" bIns="25400" rtlCol="0" anchor="t">
            <a:normAutofit fontScale="70000" lnSpcReduction="20000"/>
          </a:bodyPr>
          <a:lstStyle/>
          <a:p>
            <a:pPr marL="0" indent="0" algn="l">
              <a:lnSpc>
                <a:spcPct val="124138"/>
              </a:lnSpc>
              <a:buNone/>
            </a:pPr>
            <a:r>
              <a:rPr lang="en-US" sz="1875" dirty="0" err="1">
                <a:solidFill>
                  <a:srgbClr val="E2E2E9"/>
                </a:solidFill>
                <a:latin typeface="Arial" pitchFamily="34" charset="0"/>
                <a:ea typeface="Arial" pitchFamily="34" charset="-122"/>
                <a:cs typeface="Arial" pitchFamily="34" charset="-120"/>
              </a:rPr>
              <a:t>[demo / repo bağlantısı]</a:t>
            </a:r>
            <a:endParaRPr lang="en-US" sz="1875" dirty="0"/>
          </a:p>
        </p:txBody>
      </p:sp>
      <p:pic>
        <p:nvPicPr>
          <p:cNvPr id="8" name="Resim 7">
            <a:extLst>
              <a:ext uri="{FF2B5EF4-FFF2-40B4-BE49-F238E27FC236}">
                <a16:creationId xmlns:a16="http://schemas.microsoft.com/office/drawing/2014/main" id="{48F7191A-F652-610F-F1DB-3218E9577B95}"/>
              </a:ext>
            </a:extLst>
          </p:cNvPr>
          <p:cNvPicPr>
            <a:picLocks noChangeAspect="1"/>
          </p:cNvPicPr>
          <p:nvPr/>
        </p:nvPicPr>
        <p:blipFill>
          <a:blip r:embed="rId3"/>
          <a:stretch>
            <a:fillRect/>
          </a:stretch>
        </p:blipFill>
        <p:spPr>
          <a:xfrm>
            <a:off x="1038077" y="9334500"/>
            <a:ext cx="2049362" cy="323850"/>
          </a:xfrm>
          <a:prstGeom prst="rect">
            <a:avLst/>
          </a:prstGeom>
        </p:spPr>
      </p:pic>
      <p:pic>
        <p:nvPicPr>
          <p:cNvPr id="31" name="Picture 30" descr="poster.jpg"/>
          <p:cNvPicPr>
            <a:picLocks noChangeAspect="1"/>
          </p:cNvPicPr>
          <p:nvPr/>
        </p:nvPicPr>
        <p:blipFill>
          <a:blip r:embed="rId4"/>
          <a:stretch>
            <a:fillRect/>
          </a:stretch>
        </p:blipFill>
        <p:spPr>
          <a:xfrm>
            <a:off x="1500188" y="1657350"/>
            <a:ext cx="15671602" cy="626268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262626"/>
        </a:solidFill>
        <a:effectLst/>
      </p:bgPr>
    </p:bg>
    <p:spTree>
      <p:nvGrpSpPr>
        <p:cNvPr id="1" name=""/>
        <p:cNvGrpSpPr/>
        <p:nvPr/>
      </p:nvGrpSpPr>
      <p:grpSpPr>
        <a:xfrm>
          <a:off x="0" y="0"/>
          <a:ext cx="0" cy="0"/>
          <a:chOff x="0" y="0"/>
          <a:chExt cx="0" cy="0"/>
        </a:xfrm>
      </p:grpSpPr>
      <p:sp>
        <p:nvSpPr>
          <p:cNvPr id="2" name="Shape 0"/>
          <p:cNvSpPr/>
          <p:nvPr/>
        </p:nvSpPr>
        <p:spPr>
          <a:xfrm>
            <a:off x="535781" y="381000"/>
            <a:ext cx="24645938" cy="8477250"/>
          </a:xfrm>
          <a:prstGeom prst="rect">
            <a:avLst/>
          </a:prstGeom>
          <a:gradFill rotWithShape="1">
            <a:gsLst>
              <a:gs pos="0">
                <a:srgbClr val="00D1D4">
                  <a:alpha val="100000"/>
                </a:srgbClr>
              </a:gs>
              <a:gs pos="100000">
                <a:srgbClr val="2078B4">
                  <a:alpha val="100000"/>
                </a:srgbClr>
              </a:gs>
            </a:gsLst>
            <a:lin ang="2700000" scaled="0"/>
          </a:gradFill>
          <a:ln/>
        </p:spPr>
        <p:txBody>
          <a:bodyPr/>
          <a:lstStyle/>
          <a:p>
            <a:endParaRPr lang="tr-TR"/>
          </a:p>
        </p:txBody>
      </p:sp>
      <p:sp>
        <p:nvSpPr>
          <p:cNvPr id="3" name="Shape 1"/>
          <p:cNvSpPr/>
          <p:nvPr/>
        </p:nvSpPr>
        <p:spPr>
          <a:xfrm>
            <a:off x="562570" y="400050"/>
            <a:ext cx="24592359" cy="8439150"/>
          </a:xfrm>
          <a:prstGeom prst="rect">
            <a:avLst/>
          </a:prstGeom>
          <a:solidFill>
            <a:srgbClr val="262626"/>
          </a:solidFill>
          <a:ln/>
        </p:spPr>
        <p:txBody>
          <a:bodyPr/>
          <a:lstStyle/>
          <a:p>
            <a:endParaRPr lang="tr-TR"/>
          </a:p>
        </p:txBody>
      </p:sp>
      <p:sp>
        <p:nvSpPr>
          <p:cNvPr id="4" name="Shape 2"/>
          <p:cNvSpPr/>
          <p:nvPr/>
        </p:nvSpPr>
        <p:spPr>
          <a:xfrm>
            <a:off x="535781" y="9048750"/>
            <a:ext cx="24645938" cy="857250"/>
          </a:xfrm>
          <a:prstGeom prst="rect">
            <a:avLst/>
          </a:prstGeom>
          <a:ln w="19050">
            <a:solidFill>
              <a:srgbClr val="00D1D4">
                <a:alpha val="50000"/>
              </a:srgbClr>
            </a:solidFill>
            <a:prstDash val="solid"/>
          </a:ln>
        </p:spPr>
        <p:txBody>
          <a:bodyPr/>
          <a:lstStyle/>
          <a:p>
            <a:endParaRPr lang="tr-TR"/>
          </a:p>
        </p:txBody>
      </p:sp>
      <p:sp>
        <p:nvSpPr>
          <p:cNvPr id="6" name="Text 3"/>
          <p:cNvSpPr/>
          <p:nvPr/>
        </p:nvSpPr>
        <p:spPr>
          <a:xfrm>
            <a:off x="21944429" y="9313069"/>
            <a:ext cx="3030597" cy="366713"/>
          </a:xfrm>
          <a:prstGeom prst="rect">
            <a:avLst/>
          </a:prstGeom>
          <a:noFill/>
          <a:ln/>
        </p:spPr>
        <p:txBody>
          <a:bodyPr wrap="square" lIns="25400" tIns="25400" rIns="25400" bIns="25400" rtlCol="0" anchor="t">
            <a:normAutofit fontScale="92500"/>
          </a:bodyPr>
          <a:lstStyle/>
          <a:p>
            <a:pPr marL="0" indent="0" algn="l">
              <a:buNone/>
            </a:pPr>
            <a:r>
              <a:rPr lang="en-US" sz="1800" kern="0" spc="288" dirty="0">
                <a:solidFill>
                  <a:srgbClr val="B9B9C4"/>
                </a:solidFill>
                <a:latin typeface="Arial" pitchFamily="34" charset="0"/>
                <a:ea typeface="Arial" pitchFamily="34" charset="-122"/>
                <a:cs typeface="Arial" pitchFamily="34" charset="-120"/>
              </a:rPr>
              <a:t>[TAKIM ADI] · 07</a:t>
            </a:r>
            <a:endParaRPr lang="en-US" sz="1800" dirty="0"/>
          </a:p>
        </p:txBody>
      </p:sp>
      <p:sp>
        <p:nvSpPr>
          <p:cNvPr id="7" name="Text 4"/>
          <p:cNvSpPr/>
          <p:nvPr/>
        </p:nvSpPr>
        <p:spPr>
          <a:xfrm>
            <a:off x="1500188" y="1414463"/>
            <a:ext cx="3236757" cy="400050"/>
          </a:xfrm>
          <a:prstGeom prst="rect">
            <a:avLst/>
          </a:prstGeom>
          <a:noFill/>
          <a:ln/>
        </p:spPr>
        <p:txBody>
          <a:bodyPr wrap="square" lIns="25400" tIns="25400" rIns="25400" bIns="25400" rtlCol="0" anchor="t">
            <a:normAutofit/>
          </a:bodyPr>
          <a:lstStyle/>
          <a:p>
            <a:pPr marL="0" indent="0" algn="l">
              <a:buNone/>
            </a:pPr>
            <a:r>
              <a:rPr lang="en-US" sz="1950" kern="0" spc="390" dirty="0">
                <a:solidFill>
                  <a:srgbClr val="00D1D4"/>
                </a:solidFill>
                <a:latin typeface="Arial" pitchFamily="34" charset="0"/>
                <a:ea typeface="Arial" pitchFamily="34" charset="-122"/>
                <a:cs typeface="Arial" pitchFamily="34" charset="-120"/>
              </a:rPr>
              <a:t>GÜVEN</a:t>
            </a:r>
            <a:endParaRPr lang="en-US" sz="1950" dirty="0"/>
          </a:p>
        </p:txBody>
      </p:sp>
      <p:sp>
        <p:nvSpPr>
          <p:cNvPr id="8" name="Text 5"/>
          <p:cNvSpPr/>
          <p:nvPr/>
        </p:nvSpPr>
        <p:spPr>
          <a:xfrm>
            <a:off x="4817741" y="1143000"/>
            <a:ext cx="12189379" cy="704850"/>
          </a:xfrm>
          <a:prstGeom prst="rect">
            <a:avLst/>
          </a:prstGeom>
          <a:noFill/>
          <a:ln/>
        </p:spPr>
        <p:txBody>
          <a:bodyPr wrap="square" lIns="25400" tIns="25400" rIns="25400" bIns="25400" rtlCol="0" anchor="t">
            <a:normAutofit lnSpcReduction="10000"/>
          </a:bodyPr>
          <a:lstStyle/>
          <a:p>
            <a:pPr marL="0" indent="0" algn="l">
              <a:lnSpc>
                <a:spcPct val="98592"/>
              </a:lnSpc>
              <a:buNone/>
            </a:pPr>
            <a:r>
              <a:rPr lang="en-US" sz="4650" b="1" kern="0" spc="-139" dirty="0">
                <a:solidFill>
                  <a:srgbClr val="C9A6F0"/>
                </a:solidFill>
                <a:latin typeface="Arial" pitchFamily="34" charset="0"/>
                <a:ea typeface="Arial" pitchFamily="34" charset="-122"/>
                <a:cs typeface="Arial" pitchFamily="34" charset="-120"/>
              </a:rPr>
              <a:t>Neden güvenilir</a:t>
            </a:r>
            <a:endParaRPr lang="en-US" sz="4650" dirty="0"/>
          </a:p>
        </p:txBody>
      </p:sp>
      <p:sp>
        <p:nvSpPr>
          <p:cNvPr id="10" name="Shape 7"/>
          <p:cNvSpPr/>
          <p:nvPr/>
        </p:nvSpPr>
        <p:spPr>
          <a:xfrm>
            <a:off x="1500188" y="2286000"/>
            <a:ext cx="22717125" cy="19050"/>
          </a:xfrm>
          <a:prstGeom prst="rect">
            <a:avLst/>
          </a:prstGeom>
          <a:gradFill rotWithShape="1">
            <a:gsLst>
              <a:gs pos="0">
                <a:srgbClr val="00D1D4">
                  <a:alpha val="100000"/>
                </a:srgbClr>
              </a:gs>
              <a:gs pos="50000">
                <a:srgbClr val="009AFE">
                  <a:alpha val="100000"/>
                </a:srgbClr>
              </a:gs>
              <a:gs pos="100000">
                <a:srgbClr val="C9A6F0">
                  <a:alpha val="100000"/>
                </a:srgbClr>
              </a:gs>
            </a:gsLst>
            <a:lin ang="0" scaled="0"/>
          </a:gradFill>
          <a:ln/>
        </p:spPr>
        <p:txBody>
          <a:bodyPr/>
          <a:lstStyle/>
          <a:p>
            <a:endParaRPr lang="tr-TR"/>
          </a:p>
        </p:txBody>
      </p:sp>
      <p:sp>
        <p:nvSpPr>
          <p:cNvPr id="11" name="Shape 8"/>
          <p:cNvSpPr/>
          <p:nvPr/>
        </p:nvSpPr>
        <p:spPr>
          <a:xfrm>
            <a:off x="1538883" y="2200275"/>
            <a:ext cx="190500" cy="190500"/>
          </a:xfrm>
          <a:prstGeom prst="rect">
            <a:avLst/>
          </a:prstGeom>
          <a:solidFill>
            <a:srgbClr val="00D1D4"/>
          </a:solidFill>
          <a:ln/>
        </p:spPr>
        <p:txBody>
          <a:bodyPr/>
          <a:lstStyle/>
          <a:p>
            <a:endParaRPr lang="tr-TR"/>
          </a:p>
        </p:txBody>
      </p:sp>
      <p:sp>
        <p:nvSpPr>
          <p:cNvPr id="12" name="Shape 9"/>
          <p:cNvSpPr/>
          <p:nvPr/>
        </p:nvSpPr>
        <p:spPr>
          <a:xfrm>
            <a:off x="1500188" y="2600325"/>
            <a:ext cx="7304414" cy="5172075"/>
          </a:xfrm>
          <a:prstGeom prst="rect">
            <a:avLst/>
          </a:prstGeom>
          <a:solidFill>
            <a:srgbClr val="00D1D4">
              <a:alpha val="6000"/>
            </a:srgbClr>
          </a:solidFill>
          <a:ln w="9525">
            <a:solidFill>
              <a:srgbClr val="00D1D4">
                <a:alpha val="32000"/>
              </a:srgbClr>
            </a:solidFill>
            <a:prstDash val="solid"/>
          </a:ln>
        </p:spPr>
        <p:txBody>
          <a:bodyPr/>
          <a:lstStyle/>
          <a:p>
            <a:endParaRPr lang="tr-TR" dirty="0"/>
          </a:p>
        </p:txBody>
      </p:sp>
      <p:sp>
        <p:nvSpPr>
          <p:cNvPr id="13" name="Text 10"/>
          <p:cNvSpPr/>
          <p:nvPr/>
        </p:nvSpPr>
        <p:spPr>
          <a:xfrm>
            <a:off x="1942207" y="2895600"/>
            <a:ext cx="7062413" cy="366713"/>
          </a:xfrm>
          <a:prstGeom prst="rect">
            <a:avLst/>
          </a:prstGeom>
          <a:noFill/>
          <a:ln/>
        </p:spPr>
        <p:txBody>
          <a:bodyPr wrap="square" lIns="25400" tIns="25400" rIns="25400" bIns="25400" rtlCol="0" anchor="t">
            <a:normAutofit/>
          </a:bodyPr>
          <a:lstStyle/>
          <a:p>
            <a:pPr marL="0" indent="0" algn="l">
              <a:buNone/>
            </a:pPr>
            <a:r>
              <a:rPr lang="en-US" kern="0" spc="324" dirty="0">
                <a:solidFill>
                  <a:srgbClr val="00D1D4"/>
                </a:solidFill>
                <a:latin typeface="Arial" pitchFamily="34" charset="0"/>
                <a:cs typeface="Arial" pitchFamily="34" charset="-120"/>
              </a:rPr>
              <a:t>KANIT HİYERARŞİSİ</a:t>
            </a:r>
            <a:endParaRPr lang="en-US" sz="1800" dirty="0"/>
          </a:p>
        </p:txBody>
      </p:sp>
      <p:sp>
        <p:nvSpPr>
          <p:cNvPr id="14" name="Text 11"/>
          <p:cNvSpPr/>
          <p:nvPr/>
        </p:nvSpPr>
        <p:spPr>
          <a:xfrm>
            <a:off x="1942207" y="3338513"/>
            <a:ext cx="7062413" cy="476250"/>
          </a:xfrm>
          <a:prstGeom prst="rect">
            <a:avLst/>
          </a:prstGeom>
          <a:noFill/>
          <a:ln/>
        </p:spPr>
        <p:txBody>
          <a:bodyPr wrap="square" lIns="25400" tIns="25400" rIns="25400" bIns="25400" rtlCol="0" anchor="t">
            <a:normAutofit lnSpcReduction="10000"/>
          </a:bodyPr>
          <a:lstStyle/>
          <a:p>
            <a:pPr marL="0" indent="0" algn="l">
              <a:lnSpc>
                <a:spcPct val="112195"/>
              </a:lnSpc>
              <a:buNone/>
            </a:pPr>
            <a:endParaRPr lang="en-US" sz="2700" dirty="0"/>
          </a:p>
        </p:txBody>
      </p:sp>
      <p:sp>
        <p:nvSpPr>
          <p:cNvPr id="15" name="Text 12"/>
          <p:cNvSpPr/>
          <p:nvPr/>
        </p:nvSpPr>
        <p:spPr>
          <a:xfrm>
            <a:off x="1942207" y="3890962"/>
            <a:ext cx="7062413" cy="381000"/>
          </a:xfrm>
          <a:prstGeom prst="rect">
            <a:avLst/>
          </a:prstGeom>
          <a:noFill/>
          <a:ln/>
        </p:spPr>
        <p:txBody>
          <a:bodyPr wrap="square" lIns="25400" tIns="25400" rIns="25400" bIns="25400" rtlCol="0" anchor="t">
            <a:normAutofit/>
          </a:bodyPr>
          <a:lstStyle/>
          <a:p>
            <a:pPr marL="0" indent="0" algn="l">
              <a:lnSpc>
                <a:spcPct val="124138"/>
              </a:lnSpc>
              <a:buNone/>
            </a:pPr>
            <a:r>
              <a:rPr lang="en-US" sz="1875" dirty="0" err="1">
                <a:solidFill>
                  <a:srgbClr val="C6C6D0"/>
                </a:solidFill>
                <a:latin typeface="Arial" pitchFamily="34" charset="0"/>
                <a:cs typeface="Arial" pitchFamily="34" charset="-120"/>
              </a:rPr>
              <a:t>Her iddia kanıt kimliğine bağlı</a:t>
            </a:r>
            <a:endParaRPr lang="en-US" sz="1875" dirty="0"/>
          </a:p>
        </p:txBody>
      </p:sp>
      <p:sp>
        <p:nvSpPr>
          <p:cNvPr id="16" name="Text 13"/>
          <p:cNvSpPr/>
          <p:nvPr/>
        </p:nvSpPr>
        <p:spPr>
          <a:xfrm>
            <a:off x="1942207" y="4348163"/>
            <a:ext cx="7062413" cy="381000"/>
          </a:xfrm>
          <a:prstGeom prst="rect">
            <a:avLst/>
          </a:prstGeom>
          <a:noFill/>
          <a:ln/>
        </p:spPr>
        <p:txBody>
          <a:bodyPr wrap="square" lIns="25400" tIns="25400" rIns="25400" bIns="25400" rtlCol="0" anchor="t">
            <a:normAutofit/>
          </a:bodyPr>
          <a:lstStyle/>
          <a:p>
            <a:pPr marL="0" indent="0" algn="l">
              <a:lnSpc>
                <a:spcPct val="124138"/>
              </a:lnSpc>
              <a:buNone/>
            </a:pPr>
            <a:r>
              <a:rPr lang="en-US" sz="1875" dirty="0" err="1">
                <a:solidFill>
                  <a:srgbClr val="C6C6D0"/>
                </a:solidFill>
                <a:latin typeface="Arial" pitchFamily="34" charset="0"/>
                <a:ea typeface="Arial" pitchFamily="34" charset="-122"/>
                <a:cs typeface="Arial" pitchFamily="34" charset="-120"/>
              </a:rPr>
              <a:t>Uydurma kimliği doğrulayıcı reddeder</a:t>
            </a:r>
            <a:endParaRPr lang="en-US" sz="1875" dirty="0"/>
          </a:p>
        </p:txBody>
      </p:sp>
      <p:sp>
        <p:nvSpPr>
          <p:cNvPr id="17" name="Shape 14"/>
          <p:cNvSpPr/>
          <p:nvPr/>
        </p:nvSpPr>
        <p:spPr>
          <a:xfrm>
            <a:off x="9245133" y="2200275"/>
            <a:ext cx="190500" cy="190500"/>
          </a:xfrm>
          <a:prstGeom prst="rect">
            <a:avLst/>
          </a:prstGeom>
          <a:solidFill>
            <a:srgbClr val="009AFE"/>
          </a:solidFill>
          <a:ln/>
        </p:spPr>
        <p:txBody>
          <a:bodyPr/>
          <a:lstStyle/>
          <a:p>
            <a:endParaRPr lang="tr-TR"/>
          </a:p>
        </p:txBody>
      </p:sp>
      <p:sp>
        <p:nvSpPr>
          <p:cNvPr id="18" name="Shape 15"/>
          <p:cNvSpPr/>
          <p:nvPr/>
        </p:nvSpPr>
        <p:spPr>
          <a:xfrm>
            <a:off x="9206438" y="2600325"/>
            <a:ext cx="7304520" cy="5172075"/>
          </a:xfrm>
          <a:prstGeom prst="rect">
            <a:avLst/>
          </a:prstGeom>
          <a:solidFill>
            <a:srgbClr val="009AFE">
              <a:alpha val="6000"/>
            </a:srgbClr>
          </a:solidFill>
          <a:ln w="9525">
            <a:solidFill>
              <a:srgbClr val="009AFE">
                <a:alpha val="32000"/>
              </a:srgbClr>
            </a:solidFill>
            <a:prstDash val="solid"/>
          </a:ln>
        </p:spPr>
        <p:txBody>
          <a:bodyPr/>
          <a:lstStyle/>
          <a:p>
            <a:endParaRPr lang="tr-TR"/>
          </a:p>
        </p:txBody>
      </p:sp>
      <p:sp>
        <p:nvSpPr>
          <p:cNvPr id="19" name="Text 16"/>
          <p:cNvSpPr/>
          <p:nvPr/>
        </p:nvSpPr>
        <p:spPr>
          <a:xfrm>
            <a:off x="9648457" y="2895600"/>
            <a:ext cx="7062528" cy="366713"/>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009AFE"/>
                </a:solidFill>
                <a:latin typeface="Arial" pitchFamily="34" charset="0"/>
                <a:ea typeface="Arial" pitchFamily="34" charset="-122"/>
                <a:cs typeface="Arial" pitchFamily="34" charset="-120"/>
              </a:rPr>
              <a:t>KİMLİK VARSAYMAZ</a:t>
            </a:r>
            <a:endParaRPr lang="en-US" sz="1800" dirty="0"/>
          </a:p>
        </p:txBody>
      </p:sp>
      <p:sp>
        <p:nvSpPr>
          <p:cNvPr id="21" name="Text 18"/>
          <p:cNvSpPr/>
          <p:nvPr/>
        </p:nvSpPr>
        <p:spPr>
          <a:xfrm>
            <a:off x="9648457" y="3890962"/>
            <a:ext cx="7062528" cy="381000"/>
          </a:xfrm>
          <a:prstGeom prst="rect">
            <a:avLst/>
          </a:prstGeom>
          <a:noFill/>
          <a:ln/>
        </p:spPr>
        <p:txBody>
          <a:bodyPr wrap="square" lIns="25400" tIns="25400" rIns="25400" bIns="25400" rtlCol="0" anchor="t">
            <a:normAutofit/>
          </a:bodyPr>
          <a:lstStyle/>
          <a:p>
            <a:pPr marL="0" indent="0" algn="l">
              <a:lnSpc>
                <a:spcPct val="124138"/>
              </a:lnSpc>
              <a:buNone/>
            </a:pPr>
            <a:r>
              <a:rPr lang="en-US" sz="1875" dirty="0" err="1">
                <a:solidFill>
                  <a:srgbClr val="C6C6D0"/>
                </a:solidFill>
                <a:latin typeface="Arial" pitchFamily="34" charset="0"/>
                <a:ea typeface="Arial" pitchFamily="34" charset="-122"/>
                <a:cs typeface="Arial" pitchFamily="34" charset="-120"/>
              </a:rPr>
              <a:t>Dost iddiası en fazla 'kısmen'</a:t>
            </a:r>
            <a:endParaRPr lang="en-US" sz="1875" dirty="0"/>
          </a:p>
        </p:txBody>
      </p:sp>
      <p:sp>
        <p:nvSpPr>
          <p:cNvPr id="22" name="Text 19"/>
          <p:cNvSpPr/>
          <p:nvPr/>
        </p:nvSpPr>
        <p:spPr>
          <a:xfrm>
            <a:off x="9648457" y="4348163"/>
            <a:ext cx="7062528" cy="381000"/>
          </a:xfrm>
          <a:prstGeom prst="rect">
            <a:avLst/>
          </a:prstGeom>
          <a:noFill/>
          <a:ln/>
        </p:spPr>
        <p:txBody>
          <a:bodyPr wrap="square" lIns="25400" tIns="25400" rIns="25400" bIns="25400" rtlCol="0" anchor="t">
            <a:normAutofit/>
          </a:bodyPr>
          <a:lstStyle/>
          <a:p>
            <a:pPr marL="0" indent="0" algn="l">
              <a:lnSpc>
                <a:spcPct val="124138"/>
              </a:lnSpc>
              <a:buNone/>
            </a:pPr>
            <a:r>
              <a:rPr lang="en-US" sz="1875" dirty="0" err="1">
                <a:solidFill>
                  <a:srgbClr val="C6C6D0"/>
                </a:solidFill>
                <a:latin typeface="Arial" pitchFamily="34" charset="0"/>
                <a:ea typeface="Arial" pitchFamily="34" charset="-122"/>
                <a:cs typeface="Arial" pitchFamily="34" charset="-120"/>
              </a:rPr>
              <a:t>Kanıt yoksa: doğrulanamaz</a:t>
            </a:r>
            <a:endParaRPr lang="en-US" sz="1875" dirty="0"/>
          </a:p>
        </p:txBody>
      </p:sp>
      <p:sp>
        <p:nvSpPr>
          <p:cNvPr id="23" name="Shape 20"/>
          <p:cNvSpPr/>
          <p:nvPr/>
        </p:nvSpPr>
        <p:spPr>
          <a:xfrm>
            <a:off x="16951488" y="2200275"/>
            <a:ext cx="190500" cy="190500"/>
          </a:xfrm>
          <a:prstGeom prst="rect">
            <a:avLst/>
          </a:prstGeom>
          <a:solidFill>
            <a:srgbClr val="C9A6F0"/>
          </a:solidFill>
          <a:ln/>
        </p:spPr>
        <p:txBody>
          <a:bodyPr/>
          <a:lstStyle/>
          <a:p>
            <a:endParaRPr lang="tr-TR"/>
          </a:p>
        </p:txBody>
      </p:sp>
      <p:sp>
        <p:nvSpPr>
          <p:cNvPr id="24" name="Shape 21"/>
          <p:cNvSpPr/>
          <p:nvPr/>
        </p:nvSpPr>
        <p:spPr>
          <a:xfrm>
            <a:off x="16912793" y="2600325"/>
            <a:ext cx="7304414" cy="5172075"/>
          </a:xfrm>
          <a:prstGeom prst="rect">
            <a:avLst/>
          </a:prstGeom>
          <a:solidFill>
            <a:srgbClr val="C9A6F0">
              <a:alpha val="7000"/>
            </a:srgbClr>
          </a:solidFill>
          <a:ln w="9525">
            <a:solidFill>
              <a:srgbClr val="C9A6F0">
                <a:alpha val="34000"/>
              </a:srgbClr>
            </a:solidFill>
            <a:prstDash val="solid"/>
          </a:ln>
        </p:spPr>
        <p:txBody>
          <a:bodyPr/>
          <a:lstStyle/>
          <a:p>
            <a:endParaRPr lang="tr-TR"/>
          </a:p>
        </p:txBody>
      </p:sp>
      <p:sp>
        <p:nvSpPr>
          <p:cNvPr id="25" name="Text 22"/>
          <p:cNvSpPr/>
          <p:nvPr/>
        </p:nvSpPr>
        <p:spPr>
          <a:xfrm>
            <a:off x="17354813" y="2895600"/>
            <a:ext cx="7062413" cy="366713"/>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C9A6F0"/>
                </a:solidFill>
                <a:latin typeface="Arial" pitchFamily="34" charset="0"/>
                <a:cs typeface="Arial" pitchFamily="34" charset="-120"/>
              </a:rPr>
              <a:t>ÖLÇÜLÜR</a:t>
            </a:r>
            <a:endParaRPr lang="en-US" sz="1800" dirty="0"/>
          </a:p>
        </p:txBody>
      </p:sp>
      <p:sp>
        <p:nvSpPr>
          <p:cNvPr id="26" name="Text 23"/>
          <p:cNvSpPr/>
          <p:nvPr/>
        </p:nvSpPr>
        <p:spPr>
          <a:xfrm>
            <a:off x="17354813" y="3338513"/>
            <a:ext cx="7062413" cy="476250"/>
          </a:xfrm>
          <a:prstGeom prst="rect">
            <a:avLst/>
          </a:prstGeom>
          <a:noFill/>
          <a:ln/>
        </p:spPr>
        <p:txBody>
          <a:bodyPr wrap="square" lIns="25400" tIns="25400" rIns="25400" bIns="25400" rtlCol="0" anchor="t">
            <a:normAutofit lnSpcReduction="10000"/>
          </a:bodyPr>
          <a:lstStyle/>
          <a:p>
            <a:pPr marL="0" indent="0" algn="l">
              <a:lnSpc>
                <a:spcPct val="112195"/>
              </a:lnSpc>
              <a:buNone/>
            </a:pPr>
            <a:r>
              <a:rPr lang="en-US" sz="2700" b="1" dirty="0">
                <a:solidFill>
                  <a:srgbClr val="FFFFFF"/>
                </a:solidFill>
                <a:latin typeface="Arial" pitchFamily="34" charset="0"/>
                <a:ea typeface="Arial" pitchFamily="34" charset="-122"/>
                <a:cs typeface="Arial" pitchFamily="34" charset="-120"/>
              </a:rPr>
              <a:t>Ekibin 23 elle etiketi</a:t>
            </a:r>
            <a:endParaRPr lang="en-US" sz="2700" dirty="0"/>
          </a:p>
        </p:txBody>
      </p:sp>
      <p:sp>
        <p:nvSpPr>
          <p:cNvPr id="27" name="Text 24"/>
          <p:cNvSpPr/>
          <p:nvPr/>
        </p:nvSpPr>
        <p:spPr>
          <a:xfrm>
            <a:off x="17354813" y="3890962"/>
            <a:ext cx="7062413" cy="381000"/>
          </a:xfrm>
          <a:prstGeom prst="rect">
            <a:avLst/>
          </a:prstGeom>
          <a:noFill/>
          <a:ln/>
        </p:spPr>
        <p:txBody>
          <a:bodyPr wrap="square" lIns="25400" tIns="25400" rIns="25400" bIns="25400" rtlCol="0" anchor="t">
            <a:normAutofit/>
          </a:bodyPr>
          <a:lstStyle/>
          <a:p>
            <a:pPr marL="0" indent="0" algn="l">
              <a:lnSpc>
                <a:spcPct val="124138"/>
              </a:lnSpc>
              <a:buNone/>
            </a:pPr>
            <a:r>
              <a:rPr lang="en-US" sz="1875" dirty="0" err="1">
                <a:solidFill>
                  <a:srgbClr val="C6C6D0"/>
                </a:solidFill>
                <a:latin typeface="Arial" pitchFamily="34" charset="0"/>
                <a:ea typeface="Arial" pitchFamily="34" charset="-122"/>
                <a:cs typeface="Arial" pitchFamily="34" charset="-120"/>
              </a:rPr>
              <a:t>Ajan hükmü 13 → 21 / 23</a:t>
            </a:r>
            <a:endParaRPr lang="en-US" sz="1875" dirty="0"/>
          </a:p>
        </p:txBody>
      </p:sp>
      <p:sp>
        <p:nvSpPr>
          <p:cNvPr id="28" name="Text 25"/>
          <p:cNvSpPr/>
          <p:nvPr/>
        </p:nvSpPr>
        <p:spPr>
          <a:xfrm>
            <a:off x="17354813" y="4348163"/>
            <a:ext cx="7062413" cy="381000"/>
          </a:xfrm>
          <a:prstGeom prst="rect">
            <a:avLst/>
          </a:prstGeom>
          <a:noFill/>
          <a:ln/>
        </p:spPr>
        <p:txBody>
          <a:bodyPr wrap="square" lIns="25400" tIns="25400" rIns="25400" bIns="25400" rtlCol="0" anchor="t">
            <a:normAutofit/>
          </a:bodyPr>
          <a:lstStyle/>
          <a:p>
            <a:pPr marL="0" indent="0" algn="l">
              <a:lnSpc>
                <a:spcPct val="124138"/>
              </a:lnSpc>
              <a:buNone/>
            </a:pPr>
            <a:r>
              <a:rPr lang="en-US" sz="1875" dirty="0" err="1">
                <a:solidFill>
                  <a:srgbClr val="C6C6D0"/>
                </a:solidFill>
                <a:latin typeface="Arial" pitchFamily="34" charset="0"/>
                <a:ea typeface="Arial" pitchFamily="34" charset="-122"/>
                <a:cs typeface="Arial" pitchFamily="34" charset="-120"/>
              </a:rPr>
              <a:t>Dış gözden geçirme: 5 açık kapandı</a:t>
            </a:r>
            <a:endParaRPr lang="en-US" sz="1875" dirty="0"/>
          </a:p>
        </p:txBody>
      </p:sp>
      <p:sp>
        <p:nvSpPr>
          <p:cNvPr id="29" name="Shape 26"/>
          <p:cNvSpPr/>
          <p:nvPr/>
        </p:nvSpPr>
        <p:spPr>
          <a:xfrm>
            <a:off x="1542752" y="8096250"/>
            <a:ext cx="209550" cy="285750"/>
          </a:xfrm>
          <a:prstGeom prst="rect">
            <a:avLst/>
          </a:prstGeom>
          <a:solidFill>
            <a:srgbClr val="C9A6F0"/>
          </a:solidFill>
          <a:ln/>
        </p:spPr>
        <p:txBody>
          <a:bodyPr/>
          <a:lstStyle/>
          <a:p>
            <a:endParaRPr lang="tr-TR"/>
          </a:p>
        </p:txBody>
      </p:sp>
      <p:sp>
        <p:nvSpPr>
          <p:cNvPr id="30" name="Text 27"/>
          <p:cNvSpPr/>
          <p:nvPr/>
        </p:nvSpPr>
        <p:spPr>
          <a:xfrm>
            <a:off x="2009180" y="8058150"/>
            <a:ext cx="6687963" cy="400050"/>
          </a:xfrm>
          <a:prstGeom prst="rect">
            <a:avLst/>
          </a:prstGeom>
          <a:noFill/>
          <a:ln/>
        </p:spPr>
        <p:txBody>
          <a:bodyPr wrap="square" lIns="25400" tIns="25400" rIns="25400" bIns="25400" rtlCol="0" anchor="t">
            <a:normAutofit/>
          </a:bodyPr>
          <a:lstStyle/>
          <a:p>
            <a:pPr marL="0" indent="0" algn="l">
              <a:buNone/>
            </a:pPr>
            <a:r>
              <a:rPr lang="en-US" sz="1950" dirty="0" err="1">
                <a:solidFill>
                  <a:srgbClr val="C6C6D0"/>
                </a:solidFill>
                <a:latin typeface="Arial" pitchFamily="34" charset="0"/>
                <a:ea typeface="Arial" pitchFamily="34" charset="-122"/>
                <a:cs typeface="Arial" pitchFamily="34" charset="-120"/>
              </a:rPr>
              <a:t>Her koşulda sonuç üretir: sınırlı döngü + kural tabanlı yedek.</a:t>
            </a:r>
            <a:endParaRPr lang="en-US" sz="1950" dirty="0"/>
          </a:p>
        </p:txBody>
      </p:sp>
      <p:sp>
        <p:nvSpPr>
          <p:cNvPr id="31" name="Text 17">
            <a:extLst>
              <a:ext uri="{FF2B5EF4-FFF2-40B4-BE49-F238E27FC236}">
                <a16:creationId xmlns:a16="http://schemas.microsoft.com/office/drawing/2014/main" id="{8A996AD9-5709-B31D-6A70-6049542563A7}"/>
              </a:ext>
            </a:extLst>
          </p:cNvPr>
          <p:cNvSpPr/>
          <p:nvPr/>
        </p:nvSpPr>
        <p:spPr>
          <a:xfrm>
            <a:off x="9648457" y="3338513"/>
            <a:ext cx="7062528" cy="476250"/>
          </a:xfrm>
          <a:prstGeom prst="rect">
            <a:avLst/>
          </a:prstGeom>
          <a:noFill/>
          <a:ln/>
        </p:spPr>
        <p:txBody>
          <a:bodyPr wrap="square" lIns="25400" tIns="25400" rIns="25400" bIns="25400" rtlCol="0" anchor="t">
            <a:normAutofit lnSpcReduction="10000"/>
          </a:bodyPr>
          <a:lstStyle/>
          <a:p>
            <a:pPr marL="0" indent="0" algn="l">
              <a:lnSpc>
                <a:spcPct val="112195"/>
              </a:lnSpc>
              <a:buNone/>
            </a:pPr>
            <a:r>
              <a:rPr lang="en-US" sz="2700" b="1" dirty="0">
                <a:solidFill>
                  <a:srgbClr val="FFFFFF"/>
                </a:solidFill>
                <a:latin typeface="Arial" pitchFamily="34" charset="0"/>
                <a:cs typeface="Arial" pitchFamily="34" charset="-120"/>
              </a:rPr>
              <a:t>Rapor riski asla düşürmez</a:t>
            </a:r>
            <a:endParaRPr lang="en-US" sz="2700" dirty="0"/>
          </a:p>
        </p:txBody>
      </p:sp>
      <p:sp>
        <p:nvSpPr>
          <p:cNvPr id="32" name="Text 17">
            <a:extLst>
              <a:ext uri="{FF2B5EF4-FFF2-40B4-BE49-F238E27FC236}">
                <a16:creationId xmlns:a16="http://schemas.microsoft.com/office/drawing/2014/main" id="{34BBB5D3-1E15-F953-31A5-6AF3615B2D47}"/>
              </a:ext>
            </a:extLst>
          </p:cNvPr>
          <p:cNvSpPr/>
          <p:nvPr/>
        </p:nvSpPr>
        <p:spPr>
          <a:xfrm>
            <a:off x="1942092" y="3337560"/>
            <a:ext cx="7062528" cy="476250"/>
          </a:xfrm>
          <a:prstGeom prst="rect">
            <a:avLst/>
          </a:prstGeom>
          <a:noFill/>
          <a:ln/>
        </p:spPr>
        <p:txBody>
          <a:bodyPr wrap="square" lIns="25400" tIns="25400" rIns="25400" bIns="25400" rtlCol="0" anchor="t">
            <a:normAutofit lnSpcReduction="10000"/>
          </a:bodyPr>
          <a:lstStyle/>
          <a:p>
            <a:pPr marL="0" indent="0" algn="l">
              <a:lnSpc>
                <a:spcPct val="112195"/>
              </a:lnSpc>
              <a:buNone/>
            </a:pPr>
            <a:r>
              <a:rPr lang="en-US" sz="2700" b="1" dirty="0">
                <a:solidFill>
                  <a:srgbClr val="FFFFFF"/>
                </a:solidFill>
                <a:latin typeface="Arial" pitchFamily="34" charset="0"/>
                <a:cs typeface="Arial" pitchFamily="34" charset="-120"/>
              </a:rPr>
              <a:t>Tespit &gt; iz &gt; rapor</a:t>
            </a:r>
            <a:endParaRPr lang="en-US" sz="2700" dirty="0"/>
          </a:p>
        </p:txBody>
      </p:sp>
      <p:pic>
        <p:nvPicPr>
          <p:cNvPr id="9" name="Resim 8">
            <a:extLst>
              <a:ext uri="{FF2B5EF4-FFF2-40B4-BE49-F238E27FC236}">
                <a16:creationId xmlns:a16="http://schemas.microsoft.com/office/drawing/2014/main" id="{779F322A-CDBB-8D73-9416-7BADFE7A49F1}"/>
              </a:ext>
            </a:extLst>
          </p:cNvPr>
          <p:cNvPicPr>
            <a:picLocks noChangeAspect="1"/>
          </p:cNvPicPr>
          <p:nvPr/>
        </p:nvPicPr>
        <p:blipFill>
          <a:blip r:embed="rId3"/>
          <a:stretch>
            <a:fillRect/>
          </a:stretch>
        </p:blipFill>
        <p:spPr>
          <a:xfrm>
            <a:off x="1038077" y="9334500"/>
            <a:ext cx="2049362" cy="323850"/>
          </a:xfrm>
          <a:prstGeom prst="rect">
            <a:avLst/>
          </a:prstGeom>
        </p:spPr>
      </p:pic>
      <p:sp>
        <p:nvSpPr>
          <p:cNvPr id="19" name="Text 16"/>
          <p:cNvSpPr/>
          <p:nvPr/>
        </p:nvSpPr>
        <p:spPr>
          <a:xfrm>
            <a:off x="1938528" y="5669280"/>
            <a:ext cx="6766560" cy="666750"/>
          </a:xfrm>
          <a:prstGeom prst="rect">
            <a:avLst/>
          </a:prstGeom>
          <a:noFill/>
          <a:ln/>
        </p:spPr>
        <p:txBody>
          <a:bodyPr wrap="square" lIns="25400" tIns="25400" rIns="25400" bIns="25400" rtlCol="0" anchor="t">
            <a:normAutofit lnSpcReduction="10000"/>
          </a:bodyPr>
          <a:lstStyle/>
          <a:p>
            <a:pPr marL="0" indent="0" algn="l">
              <a:lnSpc>
                <a:spcPct val="98507"/>
              </a:lnSpc>
              <a:buNone/>
            </a:pPr>
            <a:r>
              <a:rPr lang="en-US" sz="4350" b="1" kern="0" spc="-87" dirty="0">
                <a:solidFill>
                  <a:srgbClr val="00D1D4"/>
                </a:solidFill>
                <a:latin typeface="Arial" pitchFamily="34" charset="0"/>
                <a:ea typeface="Arial" pitchFamily="34" charset="-122"/>
                <a:cs typeface="Arial" pitchFamily="34" charset="-120"/>
              </a:rPr>
              <a:t>%100</a:t>
            </a:r>
            <a:endParaRPr lang="en-US" sz="4350" dirty="0"/>
          </a:p>
        </p:txBody>
      </p:sp>
      <p:sp>
        <p:nvSpPr>
          <p:cNvPr id="20" name="Text 17"/>
          <p:cNvSpPr/>
          <p:nvPr/>
        </p:nvSpPr>
        <p:spPr>
          <a:xfrm>
            <a:off x="1938528" y="6446520"/>
            <a:ext cx="6766560" cy="381000"/>
          </a:xfrm>
          <a:prstGeom prst="rect">
            <a:avLst/>
          </a:prstGeom>
          <a:noFill/>
          <a:ln/>
        </p:spPr>
        <p:txBody>
          <a:bodyPr wrap="square" lIns="25400" tIns="25400" rIns="25400" bIns="25400" rtlCol="0" anchor="t">
            <a:normAutofit/>
          </a:bodyPr>
          <a:lstStyle/>
          <a:p>
            <a:pPr marL="0" indent="0" algn="l">
              <a:lnSpc>
                <a:spcPct val="124138"/>
              </a:lnSpc>
              <a:buNone/>
            </a:pPr>
            <a:r>
              <a:rPr lang="en-US" sz="1875" dirty="0">
                <a:solidFill>
                  <a:srgbClr val="C6C6D0"/>
                </a:solidFill>
                <a:latin typeface="Arial" pitchFamily="34" charset="0"/>
                <a:ea typeface="Arial" pitchFamily="34" charset="-122"/>
                <a:cs typeface="Arial" pitchFamily="34" charset="-120"/>
              </a:rPr>
              <a:t>iddia kanıt kimliğiyle</a:t>
            </a:r>
            <a:endParaRPr lang="en-US" sz="1875" dirty="0"/>
          </a:p>
        </p:txBody>
      </p:sp>
      <p:sp>
        <p:nvSpPr>
          <p:cNvPr id="19" name="Text 16"/>
          <p:cNvSpPr/>
          <p:nvPr/>
        </p:nvSpPr>
        <p:spPr>
          <a:xfrm>
            <a:off x="9646920" y="5669280"/>
            <a:ext cx="6766560" cy="666750"/>
          </a:xfrm>
          <a:prstGeom prst="rect">
            <a:avLst/>
          </a:prstGeom>
          <a:noFill/>
          <a:ln/>
        </p:spPr>
        <p:txBody>
          <a:bodyPr wrap="square" lIns="25400" tIns="25400" rIns="25400" bIns="25400" rtlCol="0" anchor="t">
            <a:normAutofit lnSpcReduction="10000"/>
          </a:bodyPr>
          <a:lstStyle/>
          <a:p>
            <a:pPr marL="0" indent="0" algn="l">
              <a:lnSpc>
                <a:spcPct val="98507"/>
              </a:lnSpc>
              <a:buNone/>
            </a:pPr>
            <a:r>
              <a:rPr lang="en-US" sz="4350" b="1" kern="0" spc="-87" dirty="0">
                <a:solidFill>
                  <a:srgbClr val="00D1D4"/>
                </a:solidFill>
                <a:latin typeface="Arial" pitchFamily="34" charset="0"/>
                <a:ea typeface="Arial" pitchFamily="34" charset="-122"/>
                <a:cs typeface="Arial" pitchFamily="34" charset="-120"/>
              </a:rPr>
              <a:t>0</a:t>
            </a:r>
            <a:endParaRPr lang="en-US" sz="4350" dirty="0"/>
          </a:p>
        </p:txBody>
      </p:sp>
      <p:sp>
        <p:nvSpPr>
          <p:cNvPr id="20" name="Text 17"/>
          <p:cNvSpPr/>
          <p:nvPr/>
        </p:nvSpPr>
        <p:spPr>
          <a:xfrm>
            <a:off x="9646920" y="6446520"/>
            <a:ext cx="6766560" cy="381000"/>
          </a:xfrm>
          <a:prstGeom prst="rect">
            <a:avLst/>
          </a:prstGeom>
          <a:noFill/>
          <a:ln/>
        </p:spPr>
        <p:txBody>
          <a:bodyPr wrap="square" lIns="25400" tIns="25400" rIns="25400" bIns="25400" rtlCol="0" anchor="t">
            <a:normAutofit/>
          </a:bodyPr>
          <a:lstStyle/>
          <a:p>
            <a:pPr marL="0" indent="0" algn="l">
              <a:lnSpc>
                <a:spcPct val="124138"/>
              </a:lnSpc>
              <a:buNone/>
            </a:pPr>
            <a:r>
              <a:rPr lang="en-US" sz="1875" dirty="0">
                <a:solidFill>
                  <a:srgbClr val="C6C6D0"/>
                </a:solidFill>
                <a:latin typeface="Arial" pitchFamily="34" charset="0"/>
                <a:ea typeface="Arial" pitchFamily="34" charset="-122"/>
                <a:cs typeface="Arial" pitchFamily="34" charset="-120"/>
              </a:rPr>
              <a:t>raporla düşürülen risk</a:t>
            </a:r>
            <a:endParaRPr lang="en-US" sz="1875" dirty="0"/>
          </a:p>
        </p:txBody>
      </p:sp>
      <p:sp>
        <p:nvSpPr>
          <p:cNvPr id="19" name="Text 16"/>
          <p:cNvSpPr/>
          <p:nvPr/>
        </p:nvSpPr>
        <p:spPr>
          <a:xfrm>
            <a:off x="17355312" y="5669280"/>
            <a:ext cx="6766560" cy="666750"/>
          </a:xfrm>
          <a:prstGeom prst="rect">
            <a:avLst/>
          </a:prstGeom>
          <a:noFill/>
          <a:ln/>
        </p:spPr>
        <p:txBody>
          <a:bodyPr wrap="square" lIns="25400" tIns="25400" rIns="25400" bIns="25400" rtlCol="0" anchor="t">
            <a:normAutofit lnSpcReduction="10000"/>
          </a:bodyPr>
          <a:lstStyle/>
          <a:p>
            <a:pPr marL="0" indent="0" algn="l">
              <a:lnSpc>
                <a:spcPct val="98507"/>
              </a:lnSpc>
              <a:buNone/>
            </a:pPr>
            <a:r>
              <a:rPr lang="en-US" sz="4350" b="1" kern="0" spc="-87" dirty="0">
                <a:solidFill>
                  <a:srgbClr val="00D1D4"/>
                </a:solidFill>
                <a:latin typeface="Arial" pitchFamily="34" charset="0"/>
                <a:ea typeface="Arial" pitchFamily="34" charset="-122"/>
                <a:cs typeface="Arial" pitchFamily="34" charset="-120"/>
              </a:rPr>
              <a:t>22 / 23</a:t>
            </a:r>
            <a:endParaRPr lang="en-US" sz="4350" dirty="0"/>
          </a:p>
        </p:txBody>
      </p:sp>
      <p:sp>
        <p:nvSpPr>
          <p:cNvPr id="20" name="Text 17"/>
          <p:cNvSpPr/>
          <p:nvPr/>
        </p:nvSpPr>
        <p:spPr>
          <a:xfrm>
            <a:off x="17355312" y="6446520"/>
            <a:ext cx="6766560" cy="381000"/>
          </a:xfrm>
          <a:prstGeom prst="rect">
            <a:avLst/>
          </a:prstGeom>
          <a:noFill/>
          <a:ln/>
        </p:spPr>
        <p:txBody>
          <a:bodyPr wrap="square" lIns="25400" tIns="25400" rIns="25400" bIns="25400" rtlCol="0" anchor="t">
            <a:normAutofit/>
          </a:bodyPr>
          <a:lstStyle/>
          <a:p>
            <a:pPr marL="0" indent="0" algn="l">
              <a:lnSpc>
                <a:spcPct val="124138"/>
              </a:lnSpc>
              <a:buNone/>
            </a:pPr>
            <a:r>
              <a:rPr lang="en-US" sz="1875" dirty="0">
                <a:solidFill>
                  <a:srgbClr val="C6C6D0"/>
                </a:solidFill>
                <a:latin typeface="Arial" pitchFamily="34" charset="0"/>
                <a:ea typeface="Arial" pitchFamily="34" charset="-122"/>
                <a:cs typeface="Arial" pitchFamily="34" charset="-120"/>
              </a:rPr>
              <a:t>rapor hükmü = ekibin elle etiketi</a:t>
            </a:r>
            <a:endParaRPr lang="en-US" sz="18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702</Words>
  <Application>Microsoft Macintosh PowerPoint</Application>
  <PresentationFormat>Custom</PresentationFormat>
  <Paragraphs>255</Paragraphs>
  <Slides>16</Slides>
  <Notes>16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16</vt:i4>
      </vt:variant>
    </vt:vector>
  </HeadingPairs>
  <TitlesOfParts>
    <vt:vector size="18"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Kerem Aydınol</cp:lastModifiedBy>
  <cp:revision>3</cp:revision>
  <dcterms:created xsi:type="dcterms:W3CDTF">2026-09-18T07:36:58Z</dcterms:created>
  <dcterms:modified xsi:type="dcterms:W3CDTF">2026-09-26T14:15:21Z</dcterms:modified>
</cp:coreProperties>
</file>